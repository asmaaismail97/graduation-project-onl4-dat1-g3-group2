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9" r:id="rId2"/>
    <p:sldId id="269" r:id="rId3"/>
    <p:sldId id="264" r:id="rId4"/>
    <p:sldId id="277" r:id="rId5"/>
    <p:sldId id="334" r:id="rId6"/>
    <p:sldId id="278" r:id="rId7"/>
    <p:sldId id="322" r:id="rId8"/>
    <p:sldId id="321" r:id="rId9"/>
    <p:sldId id="279" r:id="rId10"/>
    <p:sldId id="265" r:id="rId11"/>
    <p:sldId id="270" r:id="rId12"/>
    <p:sldId id="320" r:id="rId13"/>
    <p:sldId id="323" r:id="rId14"/>
    <p:sldId id="324" r:id="rId15"/>
    <p:sldId id="325" r:id="rId16"/>
    <p:sldId id="326" r:id="rId17"/>
    <p:sldId id="327" r:id="rId18"/>
    <p:sldId id="280" r:id="rId19"/>
    <p:sldId id="272" r:id="rId20"/>
    <p:sldId id="273" r:id="rId21"/>
    <p:sldId id="274" r:id="rId22"/>
    <p:sldId id="306" r:id="rId23"/>
    <p:sldId id="319" r:id="rId24"/>
    <p:sldId id="328" r:id="rId25"/>
    <p:sldId id="305" r:id="rId26"/>
    <p:sldId id="301" r:id="rId27"/>
    <p:sldId id="300" r:id="rId28"/>
    <p:sldId id="291" r:id="rId29"/>
    <p:sldId id="290" r:id="rId30"/>
    <p:sldId id="293" r:id="rId31"/>
    <p:sldId id="292" r:id="rId32"/>
    <p:sldId id="287" r:id="rId33"/>
    <p:sldId id="284" r:id="rId34"/>
    <p:sldId id="318" r:id="rId35"/>
    <p:sldId id="286" r:id="rId36"/>
    <p:sldId id="295" r:id="rId37"/>
    <p:sldId id="329" r:id="rId38"/>
    <p:sldId id="296" r:id="rId39"/>
    <p:sldId id="288" r:id="rId40"/>
    <p:sldId id="297" r:id="rId41"/>
    <p:sldId id="298" r:id="rId42"/>
    <p:sldId id="299" r:id="rId43"/>
    <p:sldId id="311" r:id="rId44"/>
    <p:sldId id="309" r:id="rId45"/>
    <p:sldId id="310" r:id="rId46"/>
    <p:sldId id="304" r:id="rId47"/>
    <p:sldId id="314" r:id="rId48"/>
    <p:sldId id="313" r:id="rId49"/>
    <p:sldId id="312" r:id="rId50"/>
    <p:sldId id="308" r:id="rId51"/>
    <p:sldId id="317" r:id="rId52"/>
    <p:sldId id="316" r:id="rId53"/>
    <p:sldId id="315" r:id="rId54"/>
    <p:sldId id="330" r:id="rId55"/>
    <p:sldId id="331" r:id="rId56"/>
    <p:sldId id="332" r:id="rId57"/>
    <p:sldId id="33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BA52"/>
    <a:srgbClr val="0F172A"/>
    <a:srgbClr val="D4AF37"/>
    <a:srgbClr val="1E3A8A"/>
    <a:srgbClr val="FFF6A2"/>
    <a:srgbClr val="C4C089"/>
    <a:srgbClr val="000000"/>
    <a:srgbClr val="92E0FF"/>
    <a:srgbClr val="498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602" y="3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4C6C0-854C-4157-B58A-FF43753CB53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953E3-C436-4D47-88D9-B6E956656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7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6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02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6D9B-0390-21E8-7D42-D0FD4F7B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0010F-D87B-6896-E228-456F2C303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EAF5C-B3DE-B303-53AB-CE445F82F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EEE6-C17A-851A-080D-2749054A9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3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961E4-265E-F732-92C9-62D1DA13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1CE8B-8B47-5597-15A6-3341E86CF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58409-0A12-BE0D-178A-FC4F1A37E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A09A5-4FD2-C4B1-58DF-84807AED6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51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C3AA-CF29-B095-9ECC-7FDDA263D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F7DF1-7CC2-7BBC-4296-C17702C63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A0494-AC8C-A3CF-389E-56462BD5C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B1067-F29A-31F1-9FE0-EE7CD4F9F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2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A453-FD15-121E-45A3-3B3380EB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72A53-D400-2C32-67C4-5EC2F7D70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B0C1D-00EA-5EBC-B38C-754293D79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539A-3A44-8A93-AF4F-A9EDF83CE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29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00AE-D54D-01E6-4AB6-7ED752A0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7D4F6-26B3-AACD-3CB9-1AA68C064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AA784-08FE-AEAD-AF5D-0A8C1FE4D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73320-B1B4-1945-18E1-235163DBB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93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6591-A236-3D02-CB40-6FCD2E54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550B2-5969-4344-CD8B-0751E3004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304F4D-576D-71F5-3E8C-27862DDAC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154CC-0E11-A6E0-9E51-B32616F71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9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50FB-8960-03C9-D12D-B5823C17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F2FAE-2AAA-6337-BF60-870B5CC45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40835-A66D-248A-BE16-39A376EE0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37FC1-CC9F-E303-8C34-C009C1205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04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9022-4342-7944-1D7D-12433278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18D20-A2F0-A5CF-8707-9EDE9DC72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94EEB-122A-13DD-14B7-43122D44F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A2B79-568C-21CB-842D-A29F93A6C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3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FBCC-1461-569E-8200-393ED8FB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40202-A8AD-6149-EC74-34CF3EE90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B9771-09F5-A768-344C-C5F27A8C3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B4956-C9F0-B0E0-E194-72DA31E9D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4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447D-9B48-5C82-E18A-F54E38B2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77F07-68A2-2429-F42B-52FE360EA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0AB2E-C8EF-49F9-4195-770A60D1F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A2EA-C51C-E853-3761-2F7B1733D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26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AB1D-5A26-168F-C277-801BAB0C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7F27B-19A8-CE3B-AD51-47AF3A7F3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E21F7-2A39-9150-5890-602B8E02D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BF215-6E35-EBC0-8B56-6FB4F00F8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26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0A05C-41DA-963F-260C-AACB3BBE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6FEE1-756B-6E8F-E5A9-1963AA713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A8624-F9C6-2DC7-6B91-B62CCA273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B04DA-2A32-D0D9-7593-F5036EA29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94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84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62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F2EFC-05D0-01ED-CDC8-5318ED2B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386D6-78C1-0A7B-77BC-337B7779F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2FE1C-CE72-FDBD-2D3F-C1EA97708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D79B6-6D7C-01CA-8AA9-60706EC54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47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953E3-C436-4D47-88D9-B6E9566561D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53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FDE6-70FF-D206-D47A-412B90FD9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50BE7-2F04-AD78-C70A-B26CFE494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7458-5DA7-1220-0EF0-7B6DAE96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9423F-0F65-70F0-FD11-4EB5924E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72147-76E0-D904-19A0-B3EAE859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7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799A-9DBC-520F-6031-1F1D26DA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7A1A-E2DF-7565-D54F-A959B0173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85DF3-079F-5E14-778D-5D3D3F5F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AF616-A30B-01F9-F2C9-5FE40821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2A7FC-1E54-8BB5-6D1F-26E28711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63C3-7328-4007-A454-6F8DA05A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C14BA-79FA-AC46-B250-7758E7B73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72606-ACF2-493F-7922-E988512C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601F-7166-4187-4D5F-313C5DED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EB3B7-0155-3F40-AC00-2360C3A9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0994-D17E-71E1-FE54-45F6BCD4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E5516-04D2-2958-1804-747E852333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BBE1A-F416-18BD-A6B8-222A30C1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28480-024D-0835-3CFB-CBF5746F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B9E33-EA93-4E87-DE3F-C668B894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4936-4AD1-C6F1-2FF2-BBB924C40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3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5042-44AC-8B60-A417-E6F36CCA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1DFA1-BA13-16F3-B7E3-A232D2BBA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38BB4-DAA2-91EE-917A-4278EE203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2775C-92FA-7D05-A5A0-BC18390FB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E9373-FCA9-D638-8252-9306E127E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C2014-AA86-3A79-15CD-454BBD49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E46E4-DE4C-D408-DF7E-DD8CBAD2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B931E-5345-236F-F770-E6EF4189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9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2BE5-58EE-8128-B425-007CA9D3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8CD63-D5FE-0FF8-E94F-E1B897530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CA7AD-1C58-3D25-7657-6AB1DC8B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309FA-09F9-A087-A4E8-DAC485D0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4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F176C-86FB-84A6-1AD9-123AD430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6DFC8-5018-7FA3-9057-C1C0AD1FC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383FA-25A2-32EB-AD5A-9C85FEA9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92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7E03-6283-B567-CA5E-40625090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4997E-B711-619F-7B86-5EA5ED017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8B7B8-AADA-575D-041E-5B4E904EA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45BBA-11BF-EF20-F0CA-875BF98C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3C8D2-7BC1-C1DA-C967-F412A3B7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D7C8B-7D23-84CF-6BA1-8FA7CB2D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8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E843-ACE4-32E1-A7AE-6421C102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C73E3-D1D1-B96C-61AA-2A2E63AFE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BB2CD-4789-5534-8869-60A8F7141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17982-9B3A-9373-5A90-03D87BE2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B2AAF-550B-8783-A4C1-190A2BCD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54C8F-254E-7B61-5B17-6F0106A9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9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8577-A76A-EBCF-07B0-85E58216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B432-0CC1-4474-D1B1-14B3A284C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E16BF-8600-B341-4F6E-7D9C68D8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16DA-7DA3-30A7-BA02-C6C00682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6C50-736D-A1F8-2BED-6E91BD06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5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FE0D9-58D7-C3D0-A95B-DA2582033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3D475-F857-8E41-E903-2A09AC804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8FB13-7226-FEB0-DD03-A776FE654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1BDDB-0802-369C-537F-BD85021A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16A9C-E0E4-A29F-4F5F-2D7C23B8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7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36A78-B5D4-3182-9E9E-65F45B424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3DAE6-6ABF-15EF-FBD4-6593D36E7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085E6-813C-D825-7384-80512CA45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78E09-B500-4FB6-A93F-DCA8DA464F3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72824-0520-469B-CDB9-3F698888E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BCF4A-B19E-E36F-DDAF-10E7DBEB3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FF7D0-7857-4CF8-90F2-EA344DF2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7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wav"/><Relationship Id="rId1" Type="http://schemas.openxmlformats.org/officeDocument/2006/relationships/audio" Target="NULL" TargetMode="Externa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slide" Target="slid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14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2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png"/><Relationship Id="rId4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3.png"/><Relationship Id="rId4" Type="http://schemas.openxmlformats.org/officeDocument/2006/relationships/image" Target="../media/image2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3.png"/><Relationship Id="rId4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9.png"/><Relationship Id="rId4" Type="http://schemas.openxmlformats.org/officeDocument/2006/relationships/image" Target="../media/image2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0.png"/><Relationship Id="rId4" Type="http://schemas.openxmlformats.org/officeDocument/2006/relationships/image" Target="../media/image2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1.png"/><Relationship Id="rId4" Type="http://schemas.openxmlformats.org/officeDocument/2006/relationships/image" Target="../media/image2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sv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sv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1598FE-8A47-AF2D-BDA6-7E12E3AA8E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D26E61-5B63-9EDF-A025-5F9674847C85}"/>
              </a:ext>
            </a:extLst>
          </p:cNvPr>
          <p:cNvSpPr txBox="1"/>
          <p:nvPr/>
        </p:nvSpPr>
        <p:spPr>
          <a:xfrm>
            <a:off x="4076891" y="1938959"/>
            <a:ext cx="6381638" cy="3231654"/>
          </a:xfrm>
          <a:prstGeom prst="rect">
            <a:avLst/>
          </a:prstGeom>
          <a:noFill/>
          <a:effectLst>
            <a:glow rad="711200"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Graduation Project </a:t>
            </a:r>
            <a:br>
              <a:rPr lang="en-US" sz="8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44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ONL4-DAT1-G3</a:t>
            </a:r>
            <a:endParaRPr lang="en-US" sz="80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C1D95FE-756A-22E5-99C4-E12BE6C45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961" y="113393"/>
            <a:ext cx="2421302" cy="22260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6E679D-2D86-3D21-34B0-F4682114D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38" y="3736475"/>
            <a:ext cx="561218" cy="56121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F34F70-C9D6-6576-9885-2CBC4DF5A1CB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BFFE806-18D7-6702-3D94-26C68CB0C484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5AFA68-E8AB-3294-8D55-A0296FA01CFA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45545CC-E1AD-EE85-2D56-803CA57FD1A1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29BB24-96FE-CB32-6BAC-E1BF95781910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70DDB4E-8424-54BB-DB5B-D32BB0E346C4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928FB9-3A1A-7E62-5BF9-DCADBF205626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F58D834-5017-6BEF-3416-D7A7B108E5C5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5C9DED9A-F133-2B55-ABA8-0FE5DBD11782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8934-D37A-CE16-08D8-3308A208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1D7291-A419-5FA4-8963-0A820E833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31BFC7-297B-6ED4-E2D0-ABB84388BA21}"/>
              </a:ext>
            </a:extLst>
          </p:cNvPr>
          <p:cNvSpPr txBox="1"/>
          <p:nvPr/>
        </p:nvSpPr>
        <p:spPr>
          <a:xfrm>
            <a:off x="-57637" y="441507"/>
            <a:ext cx="2390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About the Project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56D713-5C7D-B28B-F4DD-CB8B1012CC98}"/>
              </a:ext>
            </a:extLst>
          </p:cNvPr>
          <p:cNvSpPr/>
          <p:nvPr/>
        </p:nvSpPr>
        <p:spPr>
          <a:xfrm>
            <a:off x="1599029" y="6285106"/>
            <a:ext cx="262773" cy="262773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0A04DD-6CA8-3321-DB6A-70556030AF41}"/>
              </a:ext>
            </a:extLst>
          </p:cNvPr>
          <p:cNvSpPr txBox="1"/>
          <p:nvPr/>
        </p:nvSpPr>
        <p:spPr>
          <a:xfrm>
            <a:off x="4591162" y="942746"/>
            <a:ext cx="5931695" cy="892552"/>
          </a:xfrm>
          <a:prstGeom prst="rect">
            <a:avLst/>
          </a:prstGeom>
          <a:noFill/>
          <a:effectLst>
            <a:glow rad="711200"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Graduation Project </a:t>
            </a:r>
            <a:b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ONL4-DAT1-G3</a:t>
            </a:r>
            <a:endParaRPr lang="en-US" sz="36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907248-0BC4-1D19-97AB-47A9186821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563" y="1095912"/>
            <a:ext cx="406317" cy="40631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4A6A64-50A0-6EB4-B54D-DBCDED5EA8DF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1FF13A6-A993-3449-C670-DCECE5C5A580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27F8676-3AEA-6131-6A90-F4684D7F634F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01D2C6-D1DB-4F25-E13B-25D5A2CA391D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828B4E-F0A5-FEA1-26BB-B64C48B6A2CD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6ED38B-9F98-D2F2-0F6B-3A27BA2993B8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23B179-EFE5-6857-D7B9-36786B79DC8E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943CE0-DA33-36C6-4850-0496828D7989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E350BB0C-15BC-7C07-6136-94EF148AD9D6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Exclamation mark with solid fill">
            <a:extLst>
              <a:ext uri="{FF2B5EF4-FFF2-40B4-BE49-F238E27FC236}">
                <a16:creationId xmlns:a16="http://schemas.microsoft.com/office/drawing/2014/main" id="{EADED3E5-2125-65E5-1844-5468A8CEB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22624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DEA3AC2-3D77-EE71-0D93-1093AD598182}"/>
              </a:ext>
            </a:extLst>
          </p:cNvPr>
          <p:cNvSpPr txBox="1"/>
          <p:nvPr/>
        </p:nvSpPr>
        <p:spPr>
          <a:xfrm>
            <a:off x="4436841" y="1916457"/>
            <a:ext cx="61716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sz="4000" b="1" dirty="0">
                <a:ln w="0"/>
                <a:solidFill>
                  <a:srgbClr val="D4AF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4000" b="1" dirty="0">
                <a:ln w="0"/>
                <a:solidFill>
                  <a:srgbClr val="D4AF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E-COMMERCE SALES &amp; </a:t>
            </a:r>
            <a:br>
              <a:rPr lang="en-US" sz="4000" b="1" dirty="0">
                <a:ln w="0"/>
                <a:solidFill>
                  <a:srgbClr val="D4AF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4000" b="1" dirty="0">
                <a:ln w="0"/>
                <a:solidFill>
                  <a:srgbClr val="D4AF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CUSTOMER BEHAVIOR ANALYSIS </a:t>
            </a:r>
            <a:br>
              <a:rPr lang="en-US" sz="4000" b="1" dirty="0">
                <a:ln w="0"/>
                <a:solidFill>
                  <a:srgbClr val="D4AF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</a:b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419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01EB-E211-D2FF-F39F-8D578723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BC3622-9C71-63C8-37F9-8D269C03E8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CBD67E-4E2D-F708-8BE1-E140B98405DC}"/>
              </a:ext>
            </a:extLst>
          </p:cNvPr>
          <p:cNvSpPr txBox="1"/>
          <p:nvPr/>
        </p:nvSpPr>
        <p:spPr>
          <a:xfrm>
            <a:off x="3861671" y="336313"/>
            <a:ext cx="5931695" cy="892552"/>
          </a:xfrm>
          <a:prstGeom prst="rect">
            <a:avLst/>
          </a:prstGeom>
          <a:noFill/>
          <a:effectLst>
            <a:glow rad="711200"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Graduation project </a:t>
            </a:r>
            <a:b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ONL4-DAT1-G3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0EA9F-4EA1-DDD7-06B4-526D992E6579}"/>
              </a:ext>
            </a:extLst>
          </p:cNvPr>
          <p:cNvSpPr txBox="1"/>
          <p:nvPr/>
        </p:nvSpPr>
        <p:spPr>
          <a:xfrm>
            <a:off x="4108580" y="4024910"/>
            <a:ext cx="7251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GROUP</a:t>
            </a: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D4AF37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#2</a:t>
            </a:r>
          </a:p>
          <a:p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Bola </a:t>
            </a:r>
            <a:r>
              <a:rPr lang="en-US" sz="32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Mourise</a:t>
            </a:r>
            <a:b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Amany Aly</a:t>
            </a:r>
            <a:b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Al Zahraa Samir </a:t>
            </a:r>
            <a:br>
              <a:rPr lang="en-US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sz="2800" b="1" u="sng" dirty="0">
                <a:ln w="0"/>
                <a:solidFill>
                  <a:srgbClr val="D4AF37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LEADER:</a:t>
            </a:r>
            <a:r>
              <a:rPr lang="en-US" sz="2800" b="1" dirty="0">
                <a:ln w="0"/>
                <a:solidFill>
                  <a:srgbClr val="D4AF37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Asmaa Ismail</a:t>
            </a:r>
            <a:endParaRPr lang="en-US" sz="3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443A74-8205-C1A6-27C3-9CD0639ECBD7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4F972F7-3666-CA6F-3929-1B7530AAD07A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EC0356A-D114-E5DC-1A20-9BAB3E25C2AF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7F39B9A-C8A2-A966-D459-FA055F89ABB1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8F7AB27-A6E2-752B-BCC4-106B56CA0C8A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C78B5C-123F-5972-CCE6-E80EA4FF1CCB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21F04F-BAB0-D2D1-299D-CC9FAA335E53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FCA8672-C19D-025E-C36A-F2D21B7120D2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5B9B9AA-B941-D060-8AA6-AB7C0C79522B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 descr="Exclamation mark with solid fill">
            <a:extLst>
              <a:ext uri="{FF2B5EF4-FFF2-40B4-BE49-F238E27FC236}">
                <a16:creationId xmlns:a16="http://schemas.microsoft.com/office/drawing/2014/main" id="{091E3C80-9178-6E67-4005-382D8EEB0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22624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77A99E0-1877-DA65-D817-6338D95B7281}"/>
              </a:ext>
            </a:extLst>
          </p:cNvPr>
          <p:cNvSpPr txBox="1"/>
          <p:nvPr/>
        </p:nvSpPr>
        <p:spPr>
          <a:xfrm>
            <a:off x="4108580" y="1940619"/>
            <a:ext cx="74168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4AF37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UNDER SUPERVISION OF: </a:t>
            </a:r>
          </a:p>
          <a:p>
            <a:r>
              <a:rPr lang="en-US" sz="4000" b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PROF. DR. AHMED ISMAIL </a:t>
            </a:r>
            <a:endParaRPr lang="en-US" sz="4800" u="sng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592660-8BE8-2424-7E2E-6AF45C409581}"/>
              </a:ext>
            </a:extLst>
          </p:cNvPr>
          <p:cNvSpPr txBox="1"/>
          <p:nvPr/>
        </p:nvSpPr>
        <p:spPr>
          <a:xfrm>
            <a:off x="-57637" y="441507"/>
            <a:ext cx="2390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About the Project</a:t>
            </a:r>
          </a:p>
        </p:txBody>
      </p:sp>
    </p:spTree>
    <p:extLst>
      <p:ext uri="{BB962C8B-B14F-4D97-AF65-F5344CB8AC3E}">
        <p14:creationId xmlns:p14="http://schemas.microsoft.com/office/powerpoint/2010/main" val="2704907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48AA-4011-88F3-5C25-D71B2FED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B83963-F7BF-3558-279F-5B3692088DCF}"/>
              </a:ext>
            </a:extLst>
          </p:cNvPr>
          <p:cNvSpPr/>
          <p:nvPr/>
        </p:nvSpPr>
        <p:spPr>
          <a:xfrm>
            <a:off x="0" y="-1309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6F9C0-4548-2016-70BB-6A1D908693E5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AE4700-0D47-0236-CC86-D32373E297DF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26C27B-A3DE-A7F1-7A24-7B32A6A41EFB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A88C90A-0185-956B-20E3-9730CC19F4ED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825639-8F5B-DA74-46F6-9F98F5BA3FDA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609366D-0CFE-09D4-9085-5A09A161B847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9ADD001-9477-A395-A306-7D6E3896BED7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CFC3D58-C306-9091-333E-50E8BD20A1E1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33B6068-F34B-0B5E-6C57-D85CEB94F065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11BCB83-E608-6B26-A5C8-1AEFDE5B75B1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91957-D4AF-675E-21AE-55807AD3F6FA}"/>
              </a:ext>
            </a:extLst>
          </p:cNvPr>
          <p:cNvSpPr txBox="1"/>
          <p:nvPr/>
        </p:nvSpPr>
        <p:spPr>
          <a:xfrm>
            <a:off x="3926451" y="800875"/>
            <a:ext cx="6989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Project Overview</a:t>
            </a:r>
          </a:p>
          <a:p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Analyze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customer purchasing behavior and sales performance. </a:t>
            </a:r>
            <a:b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Data collected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from United Kingdom, Germany, Canada, and Australia.</a:t>
            </a:r>
            <a:b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</a:p>
          <a:p>
            <a:r>
              <a:rPr lang="en-US" sz="28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Covers transactions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from 2023–2024.</a:t>
            </a:r>
            <a:b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</a:p>
          <a:p>
            <a:r>
              <a:rPr lang="en-US" sz="28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Includes customer demographics: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Age, Gender, Income Level, and Segmentation.</a:t>
            </a:r>
          </a:p>
        </p:txBody>
      </p:sp>
      <p:pic>
        <p:nvPicPr>
          <p:cNvPr id="22" name="Graphic 21" descr="Lecturer with solid fill">
            <a:extLst>
              <a:ext uri="{FF2B5EF4-FFF2-40B4-BE49-F238E27FC236}">
                <a16:creationId xmlns:a16="http://schemas.microsoft.com/office/drawing/2014/main" id="{EEC9E958-3FE4-F2D9-FD6A-D54B043F1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302" y="2765350"/>
            <a:ext cx="914400" cy="914400"/>
          </a:xfrm>
          <a:prstGeom prst="rect">
            <a:avLst/>
          </a:prstGeom>
        </p:spPr>
      </p:pic>
      <p:pic>
        <p:nvPicPr>
          <p:cNvPr id="18" name="Graphic 17" descr="Research with solid fill">
            <a:extLst>
              <a:ext uri="{FF2B5EF4-FFF2-40B4-BE49-F238E27FC236}">
                <a16:creationId xmlns:a16="http://schemas.microsoft.com/office/drawing/2014/main" id="{607DDDB4-C2F7-C95A-499E-4DBBB6591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2736" y="1637967"/>
            <a:ext cx="914400" cy="914400"/>
          </a:xfrm>
          <a:prstGeom prst="rect">
            <a:avLst/>
          </a:prstGeom>
        </p:spPr>
      </p:pic>
      <p:pic>
        <p:nvPicPr>
          <p:cNvPr id="20" name="Graphic 19" descr="Male profile with solid fill">
            <a:extLst>
              <a:ext uri="{FF2B5EF4-FFF2-40B4-BE49-F238E27FC236}">
                <a16:creationId xmlns:a16="http://schemas.microsoft.com/office/drawing/2014/main" id="{CA4A385C-6A0E-4EEA-A307-679946989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01301" y="5485091"/>
            <a:ext cx="914400" cy="914400"/>
          </a:xfrm>
          <a:prstGeom prst="rect">
            <a:avLst/>
          </a:prstGeom>
        </p:spPr>
      </p:pic>
      <p:pic>
        <p:nvPicPr>
          <p:cNvPr id="23" name="Graphic 22" descr="Female Profile with solid fill">
            <a:extLst>
              <a:ext uri="{FF2B5EF4-FFF2-40B4-BE49-F238E27FC236}">
                <a16:creationId xmlns:a16="http://schemas.microsoft.com/office/drawing/2014/main" id="{260F0863-6599-3C7A-B530-7B2BAEB6D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087100" y="5504141"/>
            <a:ext cx="914400" cy="914400"/>
          </a:xfrm>
          <a:prstGeom prst="rect">
            <a:avLst/>
          </a:prstGeom>
        </p:spPr>
      </p:pic>
      <p:pic>
        <p:nvPicPr>
          <p:cNvPr id="25" name="Graphic 24" descr="Earth globe: Africa and Europe with solid fill">
            <a:extLst>
              <a:ext uri="{FF2B5EF4-FFF2-40B4-BE49-F238E27FC236}">
                <a16:creationId xmlns:a16="http://schemas.microsoft.com/office/drawing/2014/main" id="{2676C417-8D13-FDF8-4B64-B7ACE97EE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0401" y="2862388"/>
            <a:ext cx="914400" cy="914400"/>
          </a:xfrm>
          <a:prstGeom prst="rect">
            <a:avLst/>
          </a:prstGeom>
        </p:spPr>
      </p:pic>
      <p:pic>
        <p:nvPicPr>
          <p:cNvPr id="27" name="Graphic 26" descr="Daily calendar with solid fill">
            <a:extLst>
              <a:ext uri="{FF2B5EF4-FFF2-40B4-BE49-F238E27FC236}">
                <a16:creationId xmlns:a16="http://schemas.microsoft.com/office/drawing/2014/main" id="{CAE52826-AE40-0EF3-8224-63A32253E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35144" y="395655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91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3832-CA8B-F1E1-0466-329791C5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46B830-9FE7-4CED-6954-B1EBE536D06D}"/>
              </a:ext>
            </a:extLst>
          </p:cNvPr>
          <p:cNvSpPr/>
          <p:nvPr/>
        </p:nvSpPr>
        <p:spPr>
          <a:xfrm>
            <a:off x="0" y="-1309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7A47D9-D9EA-B0E0-541C-B27806E5EB5A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F7007F-3FA0-D2CF-4AA5-A11297EDBFDD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F6614D9-87F3-25C8-8B19-C4B1414BA0D9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4A2AAA-09EC-0EBB-1BAD-255EC8A7E050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5334A-DF5E-C7F3-8A7A-528693393182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D3E76B-2695-844F-5F5E-B37CA0717BC9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4D71551-E67C-E465-B386-CC48ADA158B4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F9B18C7-5540-78FB-D7B1-FCAA71BBBA50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74D774F-67E3-0B24-96C6-EC3753D7DE9C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4F514BE-D06B-7687-214B-F1AF3639A893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BA3DE-00E4-95E7-748D-8D31C4F8D230}"/>
              </a:ext>
            </a:extLst>
          </p:cNvPr>
          <p:cNvSpPr txBox="1"/>
          <p:nvPr/>
        </p:nvSpPr>
        <p:spPr>
          <a:xfrm>
            <a:off x="3888589" y="417147"/>
            <a:ext cx="776610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Business questions 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Q1: Sales &amp; The 2024 Decline: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Why did our sales drop drastically from 2023 to 2024, and what is the real cause?</a:t>
            </a:r>
            <a:b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Q2: Marketing Targeting: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Which specific age group should we target with our marketing budget to maximize sales?</a:t>
            </a:r>
            <a:b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Q3: Shipping Performance:</a:t>
            </a:r>
            <a:br>
              <a:rPr lang="en-US" sz="2800" b="1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>
                <a:solidFill>
                  <a:schemeClr val="bg1"/>
                </a:solidFill>
                <a:latin typeface="Bookman Old Style" panose="02050604050505020204" pitchFamily="18" charset="0"/>
              </a:rPr>
              <a:t>What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is our most used shipping method, and where are the delays happening?</a:t>
            </a:r>
          </a:p>
        </p:txBody>
      </p:sp>
      <p:pic>
        <p:nvPicPr>
          <p:cNvPr id="22" name="Graphic 21" descr="Lecturer with solid fill">
            <a:extLst>
              <a:ext uri="{FF2B5EF4-FFF2-40B4-BE49-F238E27FC236}">
                <a16:creationId xmlns:a16="http://schemas.microsoft.com/office/drawing/2014/main" id="{ED082840-2D78-713F-D26A-AE6A021AFD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302" y="27653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59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B7A1-6932-B5AE-4F05-E5580D09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2DE083-66B1-CF1A-41E3-F4C09179E0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1E20EF-DA79-F5BC-F4D9-D42A2B4A33EA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C5FBA2-87CC-046A-C7F8-AAE3AD42922B}"/>
              </a:ext>
            </a:extLst>
          </p:cNvPr>
          <p:cNvSpPr txBox="1"/>
          <p:nvPr/>
        </p:nvSpPr>
        <p:spPr>
          <a:xfrm>
            <a:off x="4020169" y="872920"/>
            <a:ext cx="826739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High Data Volume Challenge:</a:t>
            </a:r>
            <a:endParaRPr lang="en-US" sz="3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30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Discovery:</a:t>
            </a:r>
            <a:r>
              <a:rPr lang="en-US" sz="3000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dataset was exceptionally large, containing </a:t>
            </a:r>
            <a:r>
              <a:rPr lang="en-US" sz="3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294,438 rows</a:t>
            </a:r>
            <a:r>
              <a:rPr lang="en-US" sz="3000" dirty="0">
                <a:solidFill>
                  <a:schemeClr val="bg1"/>
                </a:solidFill>
                <a:latin typeface="Bookman Old Style" panose="02050604050505020204" pitchFamily="18" charset="0"/>
              </a:rPr>
              <a:t> of transactional records, which required optimized processing to avoid system lag during analysis.</a:t>
            </a:r>
            <a:br>
              <a:rPr lang="en-US" sz="3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3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30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Action Taken:</a:t>
            </a:r>
            <a:r>
              <a:rPr lang="en-US" sz="3000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Bookman Old Style" panose="02050604050505020204" pitchFamily="18" charset="0"/>
              </a:rPr>
              <a:t>Utilized Power Query's efficient indexing and data loading capabilities to handle the massive volume smoothly, ensuring performance stability while building visualizations.</a:t>
            </a:r>
          </a:p>
        </p:txBody>
      </p:sp>
      <p:pic>
        <p:nvPicPr>
          <p:cNvPr id="20" name="Graphic 19" descr="Brainstorm with solid fill">
            <a:extLst>
              <a:ext uri="{FF2B5EF4-FFF2-40B4-BE49-F238E27FC236}">
                <a16:creationId xmlns:a16="http://schemas.microsoft.com/office/drawing/2014/main" id="{0F04FE48-2B6F-C34D-8E4E-3995F9DE0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8E42245-0E34-4A51-9000-DAAC7A557D0F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7CC620-9375-824A-1B4A-5B92A8D56EA4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68C581-1741-01E0-BB82-35C4A03CF3F0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A0D1439-B917-ABDB-5E03-E58C54258F76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D2ACD59-29A4-8AC9-9B15-3E29C5DAE91F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E8C3584-2AD7-D27B-E488-74940EC27CB3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B397DE9-305A-FC54-9061-5114FB8D0242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6319056-1ACE-621F-0D3B-23FD86AD661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CE721D2-D299-C4FE-5E3B-9A5C69B24B5E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00307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C75C-5DA3-70ED-EF5F-743BA5B4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A70A4E-2E55-9A44-3EF9-D9D8B83BAA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1A7F9B-787A-003B-FFCA-C02DA85FFB41}"/>
              </a:ext>
            </a:extLst>
          </p:cNvPr>
          <p:cNvSpPr txBox="1"/>
          <p:nvPr/>
        </p:nvSpPr>
        <p:spPr>
          <a:xfrm>
            <a:off x="517083" y="640913"/>
            <a:ext cx="12192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294,438 Rows</a:t>
            </a:r>
            <a:endParaRPr lang="en-US" sz="199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101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F3F91-5056-2441-BC89-75E8AC35D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eesound_community-windows-error-sound-effect-35894">
            <a:hlinkClick r:id="" action="ppaction://media"/>
            <a:extLst>
              <a:ext uri="{FF2B5EF4-FFF2-40B4-BE49-F238E27FC236}">
                <a16:creationId xmlns:a16="http://schemas.microsoft.com/office/drawing/2014/main" id="{59CCABA6-B40D-8F05-AE9C-48D6A60A5AF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91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56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A861-1235-DBA3-25B5-29E31FB0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F228C9-228B-F498-5BFF-7599A898B1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43BCD-53EA-B324-4169-42DB1C6F7B16}"/>
              </a:ext>
            </a:extLst>
          </p:cNvPr>
          <p:cNvSpPr txBox="1"/>
          <p:nvPr/>
        </p:nvSpPr>
        <p:spPr>
          <a:xfrm>
            <a:off x="3850531" y="456896"/>
            <a:ext cx="2065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Objectives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CBE640-4BFF-F469-6388-AB15F5E31AB6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71C02-1A6A-EF54-54FB-099229180EC4}"/>
              </a:ext>
            </a:extLst>
          </p:cNvPr>
          <p:cNvSpPr txBox="1"/>
          <p:nvPr/>
        </p:nvSpPr>
        <p:spPr>
          <a:xfrm>
            <a:off x="3967737" y="1068435"/>
            <a:ext cx="81287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Time-Series Analysis: </a:t>
            </a:r>
            <a:r>
              <a:rPr lang="en-US" sz="2700" dirty="0">
                <a:solidFill>
                  <a:schemeClr val="bg1"/>
                </a:solidFill>
                <a:latin typeface="Bookman Old Style" panose="02050604050505020204" pitchFamily="18" charset="0"/>
              </a:rPr>
              <a:t>Evaluate sales trends, seasonality, and diagnose the 2023-2024 revenue drop using YoY metrics.</a:t>
            </a:r>
          </a:p>
          <a:p>
            <a:r>
              <a:rPr lang="en-US" sz="27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Customer Segmentation: </a:t>
            </a:r>
            <a:r>
              <a:rPr lang="en-US" sz="2700" dirty="0">
                <a:solidFill>
                  <a:schemeClr val="bg1"/>
                </a:solidFill>
                <a:latin typeface="Bookman Old Style" panose="02050604050505020204" pitchFamily="18" charset="0"/>
              </a:rPr>
              <a:t>Identify high-value segments (New, Regular, Premium) based on purchase frequency and total spend.</a:t>
            </a:r>
          </a:p>
          <a:p>
            <a:r>
              <a:rPr lang="en-US" sz="27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Demographic &amp; Geographic Mapping: </a:t>
            </a:r>
            <a:r>
              <a:rPr lang="en-US" sz="2700" dirty="0">
                <a:solidFill>
                  <a:schemeClr val="bg1"/>
                </a:solidFill>
                <a:latin typeface="Bookman Old Style" panose="02050604050505020204" pitchFamily="18" charset="0"/>
              </a:rPr>
              <a:t>Analyze how age, gender, income, and location drive purchasing behavior.</a:t>
            </a:r>
          </a:p>
          <a:p>
            <a:r>
              <a:rPr lang="en-US" sz="27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Actionable Recommendations:</a:t>
            </a:r>
            <a:r>
              <a:rPr lang="en-US" sz="2700" dirty="0">
                <a:solidFill>
                  <a:schemeClr val="bg1"/>
                </a:solidFill>
                <a:latin typeface="Bookman Old Style" panose="02050604050505020204" pitchFamily="18" charset="0"/>
              </a:rPr>
              <a:t> Deliver interactive dashboards to optimize marketing campaigns and business strategies.</a:t>
            </a:r>
          </a:p>
        </p:txBody>
      </p:sp>
      <p:pic>
        <p:nvPicPr>
          <p:cNvPr id="20" name="Graphic 19" descr="List with solid fill">
            <a:extLst>
              <a:ext uri="{FF2B5EF4-FFF2-40B4-BE49-F238E27FC236}">
                <a16:creationId xmlns:a16="http://schemas.microsoft.com/office/drawing/2014/main" id="{8EF95FA6-8850-D2B3-5D63-3277A0B75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98543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3DD3598-D14A-CD67-6BE3-A02A2CA0F4EB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5976D10-A933-0856-CF8E-9E672318188C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3165006-0C64-5A85-81D2-9713575134AF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1ECD9F-C8DB-F031-8857-6F7A5A191610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5B0E622-BEEF-03CF-6BC3-D6F41ABE9063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BF1C9A5-8230-8E19-827A-54F37415E538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9B1A3B9-B85E-8194-E169-B152F63A94B2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B3C92C4-BB1F-84E9-1147-0D7864F26286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FEFB24-F75E-9F85-B4BF-5FB2932E497B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9304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91547-A8B8-1549-5B11-8CF42B7C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40D71A7F-70AB-E999-BFD4-D99FF079FC6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5527002"/>
                  </p:ext>
                </p:extLst>
              </p:nvPr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40D71A7F-70AB-E999-BFD4-D99FF079FC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C968C9C6-D67B-34F4-B1AD-70436B900F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0702661"/>
                  </p:ext>
                </p:extLst>
              </p:nvPr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C968C9C6-D67B-34F4-B1AD-70436B900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1F6535F-BBD2-3A30-E3AA-AE290822AAE2}"/>
              </a:ext>
            </a:extLst>
          </p:cNvPr>
          <p:cNvSpPr/>
          <p:nvPr/>
        </p:nvSpPr>
        <p:spPr>
          <a:xfrm>
            <a:off x="0" y="0"/>
            <a:ext cx="12187768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D6CC74-BCF5-3433-BD8E-AD91E143E027}"/>
              </a:ext>
            </a:extLst>
          </p:cNvPr>
          <p:cNvSpPr/>
          <p:nvPr/>
        </p:nvSpPr>
        <p:spPr>
          <a:xfrm>
            <a:off x="3923829" y="1690936"/>
            <a:ext cx="8157029" cy="4563653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E1823-4655-1661-92D9-7F599DB36295}"/>
              </a:ext>
            </a:extLst>
          </p:cNvPr>
          <p:cNvSpPr txBox="1"/>
          <p:nvPr/>
        </p:nvSpPr>
        <p:spPr>
          <a:xfrm>
            <a:off x="430030" y="315417"/>
            <a:ext cx="1725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Data Cleaning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FBD3C-04D9-9B56-1867-45AF699DE04D}"/>
              </a:ext>
            </a:extLst>
          </p:cNvPr>
          <p:cNvSpPr txBox="1"/>
          <p:nvPr/>
        </p:nvSpPr>
        <p:spPr>
          <a:xfrm>
            <a:off x="3816920" y="497234"/>
            <a:ext cx="83708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Using Excel-Power Query to clean, transform, and handle data anomalies, replacing errors to ensure data integrity and readiness for analysis.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72C4E0-28F2-0CAC-AF00-A7096D0CBA36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AA6A7D-EF50-4CCB-CD10-57DE5484052A}"/>
              </a:ext>
            </a:extLst>
          </p:cNvPr>
          <p:cNvSpPr/>
          <p:nvPr/>
        </p:nvSpPr>
        <p:spPr>
          <a:xfrm>
            <a:off x="3923829" y="1539823"/>
            <a:ext cx="8157029" cy="166353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9BFFF6-AC41-7151-9796-7B7A5D7ED877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1E5C370-3CA2-D7FD-C558-7BACC91E6633}"/>
              </a:ext>
            </a:extLst>
          </p:cNvPr>
          <p:cNvGrpSpPr/>
          <p:nvPr/>
        </p:nvGrpSpPr>
        <p:grpSpPr>
          <a:xfrm rot="19689219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B9D52E-40D2-0875-9D0E-FB2B2917E8DF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E50EBF4-7D21-4B54-B216-9D45C7F9DB2E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F1DF6D7-C2D2-1E27-BFBB-1883AFC4AC48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E2AE103-191C-B9DD-1558-1149C6ECB82F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8A48A52-2187-07F5-4164-AF75E11B93E8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441961-63D4-A9DF-B8F1-DECCF47223B9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4632B7F-4700-5828-CA0C-457C642DA31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1" name="Graphic 30" descr="Mop and bucket with solid fill">
            <a:extLst>
              <a:ext uri="{FF2B5EF4-FFF2-40B4-BE49-F238E27FC236}">
                <a16:creationId xmlns:a16="http://schemas.microsoft.com/office/drawing/2014/main" id="{1A8B7C5C-5A0C-A582-357A-8362BF39EE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889" y="27127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92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C9E3-E561-029C-8D08-47FDB880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2B0FF567-3A22-641D-991F-CBB75B08BE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7322131"/>
                  </p:ext>
                </p:extLst>
              </p:nvPr>
            </p:nvGraphicFramePr>
            <p:xfrm>
              <a:off x="4572000" y="2571750"/>
              <a:ext cx="3048000" cy="1714500"/>
            </p:xfrm>
            <a:graphic>
              <a:graphicData uri="http://schemas.microsoft.com/office/powerpoint/2016/slidezoom">
                <pslz:sldZm>
                  <pslz:sldZmObj sldId="270" cId="619434776">
                    <pslz:zmPr id="{38460A9E-CC15-48EB-A51F-03205A0279A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B0FF567-3A22-641D-991F-CBB75B08BE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00" y="25717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7D8CDA8-0D45-F3DF-E3F2-1C6EF1F4A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EF584D-5EE8-AACC-C713-9AF44286AA82}"/>
              </a:ext>
            </a:extLst>
          </p:cNvPr>
          <p:cNvSpPr/>
          <p:nvPr/>
        </p:nvSpPr>
        <p:spPr>
          <a:xfrm>
            <a:off x="99589" y="315416"/>
            <a:ext cx="11992822" cy="645204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E9248-1289-2E81-77EB-64A0D2FF4219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34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D0D3-BD56-B9B7-35E0-0B53065F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09971C-DD08-1B9C-3462-54FDF6DEA0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34720F0-20F9-4775-25E9-44B0DF806F42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3EF0E2-13DC-8488-3B5C-C2AEDD0349AC}"/>
              </a:ext>
            </a:extLst>
          </p:cNvPr>
          <p:cNvSpPr txBox="1"/>
          <p:nvPr/>
        </p:nvSpPr>
        <p:spPr>
          <a:xfrm>
            <a:off x="3973173" y="809856"/>
            <a:ext cx="8267390" cy="51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5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Extensive Data Gaps &amp; Missing Values:</a:t>
            </a:r>
            <a:endParaRPr lang="en-US" sz="255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55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Discovery:</a:t>
            </a:r>
            <a:r>
              <a:rPr lang="en-US" sz="2550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550" dirty="0">
                <a:solidFill>
                  <a:schemeClr val="bg1"/>
                </a:solidFill>
                <a:latin typeface="Bookman Old Style" panose="02050604050505020204" pitchFamily="18" charset="0"/>
              </a:rPr>
              <a:t>Discovered widespread missing data (</a:t>
            </a:r>
            <a:r>
              <a:rPr lang="en-US" sz="255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blanks</a:t>
            </a:r>
            <a:r>
              <a:rPr lang="en-US" sz="2550" dirty="0">
                <a:solidFill>
                  <a:schemeClr val="bg1"/>
                </a:solidFill>
                <a:latin typeface="Bookman Old Style" panose="02050604050505020204" pitchFamily="18" charset="0"/>
              </a:rPr>
              <a:t>) across multiple critical columns. Most were found in the </a:t>
            </a:r>
            <a:r>
              <a:rPr lang="en-US" sz="255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Date, Year, and Month</a:t>
            </a:r>
            <a:r>
              <a:rPr lang="en-US" sz="2550" dirty="0">
                <a:solidFill>
                  <a:schemeClr val="bg1"/>
                </a:solidFill>
                <a:latin typeface="Bookman Old Style" panose="02050604050505020204" pitchFamily="18" charset="0"/>
              </a:rPr>
              <a:t> columns, as well as the </a:t>
            </a:r>
            <a:r>
              <a:rPr lang="en-US" sz="255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purchases (Order Q) and Total Amount</a:t>
            </a:r>
            <a:r>
              <a:rPr lang="en-US" sz="2550" dirty="0">
                <a:solidFill>
                  <a:schemeClr val="bg1"/>
                </a:solidFill>
                <a:latin typeface="Bookman Old Style" panose="02050604050505020204" pitchFamily="18" charset="0"/>
              </a:rPr>
              <a:t> columns.</a:t>
            </a:r>
          </a:p>
          <a:p>
            <a:endParaRPr lang="en-US" sz="255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55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Action Taken:</a:t>
            </a:r>
            <a:r>
              <a:rPr lang="en-US" sz="2550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550" dirty="0">
                <a:solidFill>
                  <a:schemeClr val="bg1"/>
                </a:solidFill>
                <a:latin typeface="Bookman Old Style" panose="02050604050505020204" pitchFamily="18" charset="0"/>
              </a:rPr>
              <a:t>Applied advanced logical formulas to reconstruct the missing timeline elements. Similarly, blank fields in order counts and total amounts were cross-calculated and filled using mathematical dependencies to achieve 100% data completeness and accuracy.</a:t>
            </a:r>
          </a:p>
        </p:txBody>
      </p:sp>
      <p:pic>
        <p:nvPicPr>
          <p:cNvPr id="20" name="Graphic 19" descr="Brainstorm with solid fill">
            <a:extLst>
              <a:ext uri="{FF2B5EF4-FFF2-40B4-BE49-F238E27FC236}">
                <a16:creationId xmlns:a16="http://schemas.microsoft.com/office/drawing/2014/main" id="{926EF3C8-B743-DFB5-3F28-4A4A45FEB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8135D-27E9-C59A-807C-EF0F454A7FEF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5D84ED-E28A-729D-5ABA-A5022E5CCFD3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6D27028-3FAE-A35A-6CBF-21B258113BE8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12B2D98-4D54-CB0C-FDA5-FCF84F14C3EE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F1C81A9-49FA-2A06-1E16-B49A7AF3AF97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DC07153-1D94-A555-2DE4-36F24EE1CE27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9601011-3FE0-3838-0CCB-F216B3E8AD7D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FAB55B3-7188-B5BD-8E11-DC98612F0A2B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B46876B-A216-7DA3-51F7-9877F2677AF4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3813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E4E3-284B-7B4A-B980-4CAFD1D4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41DC4A-BD00-E867-7EA8-CAF1B0442F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BE7C81-2B1A-9607-C228-CB76664E4070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Brainstorm with solid fill">
            <a:extLst>
              <a:ext uri="{FF2B5EF4-FFF2-40B4-BE49-F238E27FC236}">
                <a16:creationId xmlns:a16="http://schemas.microsoft.com/office/drawing/2014/main" id="{943C6A1D-734D-27BF-EA49-98AA9CB08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38B6848-5DC1-B007-DE6F-361C8206F5E8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CFC5E2-E1FE-9163-9BC7-B4F985D6D75C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962AFAC-E768-EF13-CA37-46CA88A64662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BABACCC-E944-A010-871D-77281DA551FE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6CE7498-9F9C-F5E1-B722-5AC84C71306B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3DFA8AF-E4DB-83D1-A6FD-C2D436CBA008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199EDE2-1ED9-3038-EBD9-891FB3C874BA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BBC2B70-0713-A9D2-2ACA-25A15BAC5BF2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A2A144C-C0D1-D257-1FA4-1C1C82C58FCA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C7BB4-636D-AC2D-6B04-268CDCBF7237}"/>
              </a:ext>
            </a:extLst>
          </p:cNvPr>
          <p:cNvSpPr/>
          <p:nvPr/>
        </p:nvSpPr>
        <p:spPr>
          <a:xfrm>
            <a:off x="3676650" y="456896"/>
            <a:ext cx="7993870" cy="588675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4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0CF4-3B24-8A14-3CB0-277DA6971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1F5EF7-B929-0A99-2CC8-11E9D03FE8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F500E4-06AE-38CC-9A8A-675F29F19415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Brainstorm with solid fill">
            <a:extLst>
              <a:ext uri="{FF2B5EF4-FFF2-40B4-BE49-F238E27FC236}">
                <a16:creationId xmlns:a16="http://schemas.microsoft.com/office/drawing/2014/main" id="{37260319-211F-6806-011E-C51CE282F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909B89E-A983-6BFB-FF12-21BC79F0C764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F214B5F-A80F-B76E-6A41-60D4EC98F6E5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29E0907-27CB-98DC-E5AC-63F6BA39432E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199D2E5-C1AC-7D0D-AB36-26F32B0D944C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9F204C-493E-19EF-2BFC-28341F4BF82D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EE5657D-CB5C-3DFD-E653-7A3AB0D3BF9C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09E001D-18EF-E68C-6AB2-A38FD5502D6E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1E1FC55-C72D-323E-A57C-38D5C48E2455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EF13989-624F-E113-7F6C-F5B2A34A5D87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B9377-689E-3924-547B-41E9124F64FD}"/>
              </a:ext>
            </a:extLst>
          </p:cNvPr>
          <p:cNvSpPr/>
          <p:nvPr/>
        </p:nvSpPr>
        <p:spPr>
          <a:xfrm>
            <a:off x="3676650" y="456896"/>
            <a:ext cx="7993870" cy="588675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55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8E4F-049E-2B82-9AD5-5C0F06CCE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6E8A7E-8ABA-2910-766F-440F724A33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582A0A-F0FE-0303-F988-B60EEC674759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Brainstorm with solid fill">
            <a:extLst>
              <a:ext uri="{FF2B5EF4-FFF2-40B4-BE49-F238E27FC236}">
                <a16:creationId xmlns:a16="http://schemas.microsoft.com/office/drawing/2014/main" id="{AF5DF1ED-6C79-4576-47B3-7D86151D63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97C2E2C-6B55-0DA3-1D84-74F77CCA03B0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32A2D98-B651-CB64-4529-3CF114A35A73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A49153C-9F28-B633-5161-19AC82F32711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88D4171-B573-CACE-EECB-D98169F27215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621CBAB-7078-2509-57ED-F29EDC378FC6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CCF79C9-C9AD-EDF0-AA79-F1E08BA040D0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6FE90D7-8E7F-EB19-62A1-14D1FB252E88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A59C708-FEA5-BFEA-0BCA-6FBD48C6396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C79A5BE-F854-CD37-10D0-5DC17E12B553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E3DEAC-4057-F029-98C5-03AEFF110491}"/>
              </a:ext>
            </a:extLst>
          </p:cNvPr>
          <p:cNvSpPr/>
          <p:nvPr/>
        </p:nvSpPr>
        <p:spPr>
          <a:xfrm>
            <a:off x="3676650" y="456896"/>
            <a:ext cx="7993870" cy="588675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84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83416-B977-671E-A238-DAF1D57E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30CA11-2EA6-0AD3-3582-52F9F91687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E1B02B-91B1-670A-8B53-638F3E52694E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2D7AF1-4B81-B64B-0631-EE1D759DBBB0}"/>
              </a:ext>
            </a:extLst>
          </p:cNvPr>
          <p:cNvSpPr txBox="1"/>
          <p:nvPr/>
        </p:nvSpPr>
        <p:spPr>
          <a:xfrm>
            <a:off x="3894436" y="1653543"/>
            <a:ext cx="7535564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Absence of Profit Margin Data:</a:t>
            </a:r>
            <a:endParaRPr lang="en-US" sz="29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9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Discovery:</a:t>
            </a:r>
            <a:r>
              <a:rPr lang="en-US" sz="2900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9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original dataset lacked a dedicated column for profit margins.</a:t>
            </a:r>
          </a:p>
          <a:p>
            <a:endParaRPr lang="en-US" sz="29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9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Action Taken:</a:t>
            </a:r>
            <a:r>
              <a:rPr lang="en-US" sz="2900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900" dirty="0">
                <a:solidFill>
                  <a:schemeClr val="bg1"/>
                </a:solidFill>
                <a:latin typeface="Bookman Old Style" panose="02050604050505020204" pitchFamily="18" charset="0"/>
              </a:rPr>
              <a:t>Established a calculated parameter assuming an estimated profit margin of </a:t>
            </a:r>
            <a:r>
              <a:rPr lang="en-US" sz="29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20% of Total Amount</a:t>
            </a:r>
            <a:r>
              <a:rPr lang="en-US" sz="2900" dirty="0">
                <a:solidFill>
                  <a:schemeClr val="bg1"/>
                </a:solidFill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20" name="Graphic 19" descr="Brainstorm with solid fill">
            <a:extLst>
              <a:ext uri="{FF2B5EF4-FFF2-40B4-BE49-F238E27FC236}">
                <a16:creationId xmlns:a16="http://schemas.microsoft.com/office/drawing/2014/main" id="{BC82A872-08B3-FC50-90CA-C67E50087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B898422-0627-D363-6715-135AFF0E90F2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4B7D695-CD3D-EDDC-93AD-D830DCBD9431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A4576F-A6F3-8BB0-06F5-4F5A4F3170B9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C10A9A0-1F35-DA21-0299-7ACF10E9C8D6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CCABF8B-8F7D-86B4-51DB-5287E6709562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5CFE40F-9628-E67A-8346-1EC1A7EE1205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5837469-0C54-1501-6CC2-31084E8C0D3F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627EFC2-C493-D8C7-C804-0488134DF00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6309426-78B3-4C91-33E7-7F138A959144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28266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F779-5E06-273E-80E2-ECEB8B92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506FC1-9813-CFE1-C23B-7C3BE3D060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4D6541-8E5A-4A7E-9B99-9DE8A35BD718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Brainstorm with solid fill">
            <a:extLst>
              <a:ext uri="{FF2B5EF4-FFF2-40B4-BE49-F238E27FC236}">
                <a16:creationId xmlns:a16="http://schemas.microsoft.com/office/drawing/2014/main" id="{BF5B90A0-F477-2991-3FF1-55CCE20562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D95AAFF-A81E-693B-657F-F9F77BBA06F1}"/>
              </a:ext>
            </a:extLst>
          </p:cNvPr>
          <p:cNvGrpSpPr/>
          <p:nvPr/>
        </p:nvGrpSpPr>
        <p:grpSpPr>
          <a:xfrm rot="20608573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196C3A5-3083-6BCF-CED0-68A4FEB30C08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5B087B5-C4C6-B8F9-44BB-7FD65952D2C6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A20A874-54FF-DD17-E62A-1D3508D8786E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AF60DBD-6F72-69EC-780D-4C2D06B29820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3BF3176-41BC-DA7C-E2A2-3B11F9451317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8E84ABB-52B6-ACA4-627E-30D32A661E45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B1BE6FD-CC89-977E-ED7F-BE5B7411C2E1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C3E84BE-91FA-4972-8BAE-1B29ADDD4CE2}"/>
              </a:ext>
            </a:extLst>
          </p:cNvPr>
          <p:cNvSpPr txBox="1"/>
          <p:nvPr/>
        </p:nvSpPr>
        <p:spPr>
          <a:xfrm>
            <a:off x="-171450" y="456896"/>
            <a:ext cx="233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E4366-FDB6-C674-D8C1-B2AE51ACAF95}"/>
              </a:ext>
            </a:extLst>
          </p:cNvPr>
          <p:cNvSpPr/>
          <p:nvPr/>
        </p:nvSpPr>
        <p:spPr>
          <a:xfrm>
            <a:off x="3676650" y="456896"/>
            <a:ext cx="7993870" cy="588675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27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61E7-9BE6-819F-03DF-42492583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E59A9870-064B-924C-C9F4-4EFEDB663C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E59A9870-064B-924C-C9F4-4EFEDB663C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E0EE76AC-995A-A55D-7B1F-A376A3B7F1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E0EE76AC-995A-A55D-7B1F-A376A3B7F1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CFE49F1-0489-45B6-3918-70DFC0D25DD1}"/>
              </a:ext>
            </a:extLst>
          </p:cNvPr>
          <p:cNvSpPr/>
          <p:nvPr/>
        </p:nvSpPr>
        <p:spPr>
          <a:xfrm>
            <a:off x="0" y="0"/>
            <a:ext cx="12187768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4FF2BB-F66F-CF85-87A6-578383DCC8D9}"/>
              </a:ext>
            </a:extLst>
          </p:cNvPr>
          <p:cNvSpPr txBox="1"/>
          <p:nvPr/>
        </p:nvSpPr>
        <p:spPr>
          <a:xfrm>
            <a:off x="430030" y="315417"/>
            <a:ext cx="1725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Data Cleaning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2B5AF-6736-A21E-F95C-61B6E8237DC5}"/>
              </a:ext>
            </a:extLst>
          </p:cNvPr>
          <p:cNvSpPr txBox="1"/>
          <p:nvPr/>
        </p:nvSpPr>
        <p:spPr>
          <a:xfrm>
            <a:off x="3816920" y="497234"/>
            <a:ext cx="8370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Now, the data is ready to be used in analysis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FF2BD-2A95-5B17-3122-CFD57C09F4E9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E853F2-6F10-1FCA-FD63-DA8B58D2398B}"/>
              </a:ext>
            </a:extLst>
          </p:cNvPr>
          <p:cNvSpPr/>
          <p:nvPr/>
        </p:nvSpPr>
        <p:spPr>
          <a:xfrm>
            <a:off x="3923828" y="1113830"/>
            <a:ext cx="8157029" cy="166353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6CF5FF-FEC3-F454-9BA2-E3D200C1F350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2E4B04-5C41-97E4-C338-A188749D58C5}"/>
              </a:ext>
            </a:extLst>
          </p:cNvPr>
          <p:cNvGrpSpPr/>
          <p:nvPr/>
        </p:nvGrpSpPr>
        <p:grpSpPr>
          <a:xfrm rot="19689219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525FCC-E60B-32CE-473B-A862774AA42A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E6CD50-A82E-68ED-5219-AFC9BC511DDC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0BB1240-514D-251D-6541-19D948BA5495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2525291-0B3C-A9C2-613C-1B4988147FAD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C9E1A33-9522-8BA0-808C-F48B5B3943DB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862F230-655D-C11B-01AB-CE2CA9B3910B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FFE14C7-6F6A-F2C8-0D2D-47F3485D3FE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1" name="Graphic 30" descr="Mop and bucket with solid fill">
            <a:extLst>
              <a:ext uri="{FF2B5EF4-FFF2-40B4-BE49-F238E27FC236}">
                <a16:creationId xmlns:a16="http://schemas.microsoft.com/office/drawing/2014/main" id="{683B9277-9BF7-68AF-7E6C-ED7247CB16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889" y="2712743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E8DC14-BA1E-D1E3-5518-B0211E8A24BD}"/>
              </a:ext>
            </a:extLst>
          </p:cNvPr>
          <p:cNvSpPr/>
          <p:nvPr/>
        </p:nvSpPr>
        <p:spPr>
          <a:xfrm>
            <a:off x="3923828" y="1262186"/>
            <a:ext cx="8157029" cy="486898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42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CDCA-2CD6-332B-831B-AC7B0891D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079786E6-B858-F70F-9F84-4850F8B5F15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2000" y="2571750"/>
              <a:ext cx="3048000" cy="1714500"/>
            </p:xfrm>
            <a:graphic>
              <a:graphicData uri="http://schemas.microsoft.com/office/powerpoint/2016/slidezoom">
                <pslz:sldZm>
                  <pslz:sldZmObj sldId="270" cId="619434776">
                    <pslz:zmPr id="{38460A9E-CC15-48EB-A51F-03205A0279A7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79786E6-B858-F70F-9F84-4850F8B5F1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2000" y="25717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6422A87-2C04-A46F-7BBC-DFE7844523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2E468C-1890-FB11-D67C-17D67B13AAAB}"/>
              </a:ext>
            </a:extLst>
          </p:cNvPr>
          <p:cNvSpPr/>
          <p:nvPr/>
        </p:nvSpPr>
        <p:spPr>
          <a:xfrm>
            <a:off x="99589" y="296366"/>
            <a:ext cx="11992822" cy="645204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76F258-26DB-78BB-2F27-A4A4149A940D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8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BB79-58E0-0468-355C-F21ADD02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17A750FB-83CA-8B12-AA5B-EAE2D42C4E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2000" y="2571750"/>
              <a:ext cx="3048000" cy="1714500"/>
            </p:xfrm>
            <a:graphic>
              <a:graphicData uri="http://schemas.microsoft.com/office/powerpoint/2016/slidezoom">
                <pslz:sldZm>
                  <pslz:sldZmObj sldId="270" cId="619434776">
                    <pslz:zmPr id="{38460A9E-CC15-48EB-A51F-03205A0279A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7A750FB-83CA-8B12-AA5B-EAE2D42C4E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00" y="25717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6C27D5-ACEF-03A7-A7EC-35510742BAC8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5887ED-05AE-EF5E-4C0B-BF12E6DB2DC6}"/>
              </a:ext>
            </a:extLst>
          </p:cNvPr>
          <p:cNvSpPr/>
          <p:nvPr/>
        </p:nvSpPr>
        <p:spPr>
          <a:xfrm>
            <a:off x="99588" y="315416"/>
            <a:ext cx="11992823" cy="645204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212777-8955-E459-62B8-37994001616B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47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79D9E-CD4C-4843-EFEA-52D2E00F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77A4936B-1A31-218B-87C9-50BC621106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77A4936B-1A31-218B-87C9-50BC621106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864E0707-C750-5AC6-27DE-44D7EC58EF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864E0707-C750-5AC6-27DE-44D7EC58EF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46D48C-2C9C-29F4-5105-A02CC4D37E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14F8FC-0362-032C-AB7C-60BFFE21277F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C21CCC-CD42-3FE2-2179-94E837713DB1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EE4F35-36C6-2615-A2CA-B0210171E1A8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491CF2-89FD-2B4B-72C8-05A2649CB941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A4C884B-87E2-EC18-919B-76659B103057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5EEE4A9-E20A-CE4B-12F2-9038F9703FC8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E53A26D-0683-9149-A792-3943DD1A9693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FD9DE6-20FB-F76E-278B-9A71A3EC89C3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557456B-B7A6-AD8C-6719-330C9CAAF279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CEE63A4-F991-2244-A29E-71EFFE10A4B4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A31CE16-7806-8B0C-B41E-5DBC42FD5ACB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DA8FBAA0-4C80-8249-646D-E3A20CF29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05EFEF-615D-5925-7E82-D9DBCB0633D7}"/>
              </a:ext>
            </a:extLst>
          </p:cNvPr>
          <p:cNvSpPr txBox="1"/>
          <p:nvPr/>
        </p:nvSpPr>
        <p:spPr>
          <a:xfrm>
            <a:off x="4755746" y="1148129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Dashboards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ECB29-592D-F87B-7E83-2886DBC8B12D}"/>
              </a:ext>
            </a:extLst>
          </p:cNvPr>
          <p:cNvSpPr/>
          <p:nvPr/>
        </p:nvSpPr>
        <p:spPr>
          <a:xfrm>
            <a:off x="3544225" y="2950331"/>
            <a:ext cx="2662475" cy="1922281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E28D0-F4D9-887C-70B6-1920B1C9122A}"/>
              </a:ext>
            </a:extLst>
          </p:cNvPr>
          <p:cNvSpPr/>
          <p:nvPr/>
        </p:nvSpPr>
        <p:spPr>
          <a:xfrm>
            <a:off x="6370349" y="2956981"/>
            <a:ext cx="2561420" cy="1915631"/>
          </a:xfrm>
          <a:prstGeom prst="rect">
            <a:avLst/>
          </a:prstGeom>
          <a:blipFill>
            <a:blip r:embed="rId8"/>
            <a:stretch>
              <a:fillRect r="-10934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ABC89C-4992-EE69-825E-443E22B50D44}"/>
              </a:ext>
            </a:extLst>
          </p:cNvPr>
          <p:cNvSpPr/>
          <p:nvPr/>
        </p:nvSpPr>
        <p:spPr>
          <a:xfrm>
            <a:off x="9120115" y="2967804"/>
            <a:ext cx="2508074" cy="1904808"/>
          </a:xfrm>
          <a:prstGeom prst="rect">
            <a:avLst/>
          </a:prstGeom>
          <a:blipFill dpi="0" rotWithShape="1">
            <a:blip r:embed="rId9"/>
            <a:srcRect/>
            <a:stretch>
              <a:fillRect l="-5000" r="-8000" b="-47874"/>
            </a:stretch>
          </a:blipFill>
          <a:scene3d>
            <a:camera prst="orthographicFront"/>
            <a:lightRig rig="threePt" dir="t"/>
          </a:scene3d>
          <a:sp3d>
            <a:bevelT w="19050" h="88900"/>
            <a:bevelB w="12700" h="952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4EC75-F8F6-917C-DB6F-7CF1BFDB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450C96BF-92AA-7CE7-AAF7-5302032C5F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450C96BF-92AA-7CE7-AAF7-5302032C5F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CFBC808B-1033-9744-A269-80FEB715FB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CFBC808B-1033-9744-A269-80FEB715FB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E9DEF15-91A0-F264-0EB2-262509EB31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A2F8C6-7B65-17F5-3BED-9D2DEDE70908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42B45-6277-6ED4-B9C6-5726FCD44E19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FFE804-F85E-714D-CEBF-A3C934336637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B7F5B5-7C31-9636-72FE-31337EDDD9F7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095A1DA-B671-AF6A-7E49-FF8EAFDD3F55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D22446-83F9-E234-C9D3-D927B4D1589C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F12598-E9AE-2858-A9BD-66F71C6E1F5C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028B122-81E4-09DD-0376-9BEFE0CA7A3B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6666CB0-667F-E0DA-88EA-07BDFC73A720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4A71C31-C588-5FD2-08D7-1FF9EDF6EDA8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BB2C652-40C3-C4DB-20DA-A99E12CBA27C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3358DFF9-CBD1-5E96-2238-D703CCC27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E21C214-2F70-681E-9DFC-95B5B4B736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270" y="579719"/>
            <a:ext cx="609524" cy="609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A310071-5AE5-17A0-F272-62D0A0658E96}"/>
              </a:ext>
            </a:extLst>
          </p:cNvPr>
          <p:cNvSpPr/>
          <p:nvPr/>
        </p:nvSpPr>
        <p:spPr>
          <a:xfrm>
            <a:off x="3543283" y="509155"/>
            <a:ext cx="7767313" cy="594843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0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50D4-181D-9E3C-848C-D9AA2D54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12760D0D-75ED-1F0F-C6E7-9AE4A186F1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12760D0D-75ED-1F0F-C6E7-9AE4A186F1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C8733BFD-C046-E97A-545E-34677AC7597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C8733BFD-C046-E97A-545E-34677AC759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E1E1ABA-9ADC-07EA-0DC7-0964EC078F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55F8D2-5F05-ED95-0822-0B08FDC89B91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004AD-B1F4-4A1F-CC7F-D780A7C7A409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F74667-5880-AF2E-35EB-D90C8A6A148E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00D950-8B0C-96F7-A248-2B2728483B93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C5B6DA-554D-7B66-C162-28F2B4FB6F49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DE68E8F-BE99-3388-B888-621FAD2969CE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8D4C0A1-335E-C0D9-87C9-9CB6F2E1896D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CD99FC9-3969-F9C4-8935-8164A8AC7B1F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7F72EF3-4244-8BCE-E172-29865FF41CB9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A80EB49-371C-44B2-87D9-6F06EB7EC895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262E125-3B55-0265-DC3A-239D3AAB285D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774A525A-398E-2830-89E8-93C0A0810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ED6EBC0-F4AE-FDFC-9CBF-5D40DE253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270" y="579719"/>
            <a:ext cx="609524" cy="609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C19BB4E-EE5B-39AE-D01F-50091E6A6E67}"/>
              </a:ext>
            </a:extLst>
          </p:cNvPr>
          <p:cNvSpPr/>
          <p:nvPr/>
        </p:nvSpPr>
        <p:spPr>
          <a:xfrm>
            <a:off x="3543283" y="78774"/>
            <a:ext cx="7767313" cy="665222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90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C64C6-AD0B-8209-D6CD-17509BAB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9069E26B-C66A-0F4C-C3CA-44F08A285D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9069E26B-C66A-0F4C-C3CA-44F08A285D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2BBF0A45-6459-1C9D-6239-52FE74ADBC9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2BBF0A45-6459-1C9D-6239-52FE74ADBC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0EA1FF-D6C7-0438-3A04-3A1C1F8C9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A3D701-7D26-9AD6-E426-CFBA726724A8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617885-2BC6-2C0F-8217-7B31840784DB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1894C8-E30B-3C63-1FC6-DD8AF16E904E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CBADA4F-E54E-E982-683E-DD7B61F8DE52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F1607DD-61D4-2A0F-5040-8E8DDE5F34E8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1C96D49-2013-8E94-5070-43C0EA8696DB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F847EAF-C3E6-50D8-4187-32AED66CFF49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494D999-1FF0-AB8D-623D-F8562335025C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D07A38E-8EF8-D7EC-B200-FB3A46DB1FE3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0948A81-555A-6C9F-E104-0B0EAD17C7DB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662072C-3D00-97CB-2E69-46C760C7CA7E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99B48381-F015-0D8D-9BF2-98A39DE3A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6CF04DB-A7D8-4568-72CF-E0DF77DCA7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270" y="579719"/>
            <a:ext cx="609524" cy="609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EABFF13-8D0E-A108-A409-60481B7D8EFE}"/>
              </a:ext>
            </a:extLst>
          </p:cNvPr>
          <p:cNvSpPr/>
          <p:nvPr/>
        </p:nvSpPr>
        <p:spPr>
          <a:xfrm>
            <a:off x="3543283" y="509155"/>
            <a:ext cx="7767313" cy="594843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13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C610-3786-0825-34BB-D8D2EDF4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819B6AC3-E1FC-0FBB-5722-7691135E08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819B6AC3-E1FC-0FBB-5722-7691135E08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FF66CED8-4CBA-95CF-6DBC-160B635BE0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FF66CED8-4CBA-95CF-6DBC-160B635BE0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7B8583C-FE8C-80B8-6D0F-A977447CCB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B6C77-C73B-3C61-171A-01FBF0CAD935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AE4CF9-52D4-5D42-298F-D155B471F8F2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3E9692D9-0336-5CA0-6AE9-8D617A4CA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8C289AD-DC15-ADD1-C780-BDB27FE157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6536" y="601525"/>
            <a:ext cx="609524" cy="609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0387B06-207B-BEF9-25E3-6156AFD35642}"/>
              </a:ext>
            </a:extLst>
          </p:cNvPr>
          <p:cNvSpPr/>
          <p:nvPr/>
        </p:nvSpPr>
        <p:spPr>
          <a:xfrm>
            <a:off x="3543284" y="509155"/>
            <a:ext cx="7767312" cy="594843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C050EC-E441-A524-2CE7-E35E9D351036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F54F74A-940D-F8E6-122D-49CD39FAE86F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A3FD77-2E64-AFB1-FB03-100391F2C6CE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A4EE868-A003-2C3F-04B5-3609A18FCBF0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01236E2-71B9-56FF-F3C8-B8178F8DC942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99C44B-08DD-5A67-E2B1-F688D2EE5F9E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898C14-9F71-3BC3-ADD3-5B573B8025E4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3222488-0B30-40CE-383A-F19FD2E3CF49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93CBD84-72E4-E1CA-91E4-FCB39D250760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</p:spTree>
    <p:extLst>
      <p:ext uri="{BB962C8B-B14F-4D97-AF65-F5344CB8AC3E}">
        <p14:creationId xmlns:p14="http://schemas.microsoft.com/office/powerpoint/2010/main" val="2280889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6BA6F-C9DE-1215-D001-66F8F96B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FF0131E7-F702-AF55-C7ED-C496F5911C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FF0131E7-F702-AF55-C7ED-C496F5911C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2BF9090A-FCA8-9686-886C-85489C1104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2BF9090A-FCA8-9686-886C-85489C1104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2605901-BFA9-8E65-EE87-665535AAE7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68FC7-445C-838B-6972-70F5110C79DC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41842A-6130-CEEB-1627-B4CEC998BD11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FBB9F0D5-0E30-813B-7A21-623B17F42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41125C4-AE04-7A09-115F-205E318243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6536" y="601525"/>
            <a:ext cx="609524" cy="609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CEE8547-40B8-8F8C-8902-FAF8BF7970A9}"/>
              </a:ext>
            </a:extLst>
          </p:cNvPr>
          <p:cNvSpPr/>
          <p:nvPr/>
        </p:nvSpPr>
        <p:spPr>
          <a:xfrm>
            <a:off x="3543284" y="509155"/>
            <a:ext cx="7767312" cy="594843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A95C80-2067-0338-25F9-C99F5403FA60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33FE31-79E0-81A3-7B66-38B1B60CAFAA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4C043C6-27F0-4A7D-3BB3-98FEEAAF7279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7B6C16-CF16-7463-4ED9-22BA70C92DAB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440F640-F5DB-2BF4-543B-1D22AE40950E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884D12-9799-8714-8D2C-06EA5696D29B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762AE3-298B-511B-B26E-1A9C612C00A6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79F32B6-4BE0-E4FB-FDA4-DF3443BF7A44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B6C1AEB-2A74-2D1D-4D6D-011755657A71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</p:spTree>
    <p:extLst>
      <p:ext uri="{BB962C8B-B14F-4D97-AF65-F5344CB8AC3E}">
        <p14:creationId xmlns:p14="http://schemas.microsoft.com/office/powerpoint/2010/main" val="3252581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484D-4708-9DA6-3680-8373095F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86501D8B-E4F2-1717-9A29-9E07F2990B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86501D8B-E4F2-1717-9A29-9E07F2990B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D7FDBB29-94C9-3DBE-5F44-4D0D4DF574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D7FDBB29-94C9-3DBE-5F44-4D0D4DF574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0458B14-BCF7-8674-2525-64047798D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BADF7-FFB9-43D1-49D1-5ADDC9F467AE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E71A8-72F3-8DAF-0CD2-6859860A41A5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A5E86BC1-1C9A-E0B6-23A9-13DA79092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009017B-439F-7E85-F719-12E0D0543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6536" y="601525"/>
            <a:ext cx="609524" cy="609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46307BD-D74F-11BF-83F4-93A1360630B8}"/>
              </a:ext>
            </a:extLst>
          </p:cNvPr>
          <p:cNvSpPr/>
          <p:nvPr/>
        </p:nvSpPr>
        <p:spPr>
          <a:xfrm>
            <a:off x="3543284" y="509155"/>
            <a:ext cx="7767312" cy="594843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A031FB-E34A-94DF-4C96-8CCE28A99878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3656C7E-0BF4-3E68-77A0-74D0C373E976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EE566C8-E3F0-2F62-A887-FE5C2C08F4D5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991ABD5-2D6D-AC62-92D0-742D9D972205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25F398F-1288-62F1-F1C7-210DBBE2E078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2BF01A8-A35D-657F-B361-1467A82D4899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0DF726-8D13-99F4-844A-50CA48731619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D33AD79-CD87-639B-22EB-E652E9071DFA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A1A5133-5C5F-F6DA-D1AE-6C75625AD226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</p:spTree>
    <p:extLst>
      <p:ext uri="{BB962C8B-B14F-4D97-AF65-F5344CB8AC3E}">
        <p14:creationId xmlns:p14="http://schemas.microsoft.com/office/powerpoint/2010/main" val="2865937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5589-CEA8-9EE0-D26B-E6C9DCA3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895C8DF5-DA31-8BC9-8A58-7EA159DCBD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895C8DF5-DA31-8BC9-8A58-7EA159DCBD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37653499-A6B0-7601-A77F-B200DCEC90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37653499-A6B0-7601-A77F-B200DCEC90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A277AC9-54E4-AFF1-C31C-65A63A5209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44B1A2-6965-9DFE-F5C1-48EDDC3C7C0D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C3FE20-8E72-124F-2B5C-3D666D38BCC5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EDFE5642-95C4-3A7F-619D-54A893B82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C35BDD-91A6-85C0-66FD-13342918A5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9080" y="602145"/>
            <a:ext cx="609524" cy="609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5F1C5E9-9879-C198-A28B-927B124434B4}"/>
              </a:ext>
            </a:extLst>
          </p:cNvPr>
          <p:cNvSpPr/>
          <p:nvPr/>
        </p:nvSpPr>
        <p:spPr>
          <a:xfrm>
            <a:off x="3543284" y="509155"/>
            <a:ext cx="7785068" cy="592945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FB84559-B433-2D9D-E130-C6DBD4B2B22B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A35056E-619F-4C33-8145-870799018AC7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0F1CFE3-3E42-7273-F2EA-27C41D97C80D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55C20E-39DA-6A0B-59BF-E1418446B49E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740A10A-C076-4F35-0EDF-08782D7D7F02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66CF5DB-81DB-A37F-6A31-DD791801A8F1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33F23C4-AE86-05BC-1373-560C76AA9785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7C0C041-9849-43B8-A54E-7B81E1046894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F506E40-F10C-695E-7AE8-2734A702E6AC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</p:spTree>
    <p:extLst>
      <p:ext uri="{BB962C8B-B14F-4D97-AF65-F5344CB8AC3E}">
        <p14:creationId xmlns:p14="http://schemas.microsoft.com/office/powerpoint/2010/main" val="19894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267B-7255-E48E-54B4-BB99A306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A0AA8A48-6092-3A1E-A7D0-0F5220B5F0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A0AA8A48-6092-3A1E-A7D0-0F5220B5F0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311F65EF-7BA0-DA38-BA9B-6B56D64B7B3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311F65EF-7BA0-DA38-BA9B-6B56D64B7B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CEAD063-2631-CDF4-DC8C-DD95F88090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3054D8-E73F-81BB-6406-F928F1DF7FEF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75ADC8-F87B-A0A4-7EE2-2A8971AA1C9B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FD51BF1F-1DE4-5668-FBE3-56FEAE40A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59F7ED5-2F53-FF26-DABF-C27593AFC088}"/>
              </a:ext>
            </a:extLst>
          </p:cNvPr>
          <p:cNvSpPr/>
          <p:nvPr/>
        </p:nvSpPr>
        <p:spPr>
          <a:xfrm>
            <a:off x="3543284" y="509155"/>
            <a:ext cx="7808782" cy="594843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10D503-A5F3-66C2-06E9-F94CEAEAB4E4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224506C-6B10-D8C1-C070-216A01AE8C18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D13E951-9E61-34F6-8953-8D5FCDC7ADF6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FCDBE94-BFF6-0DC4-581A-125EFBCE525A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2DB1CA-AF1C-B1FE-F919-0C2359A3A5FF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4B5CCD6-6D8C-B113-6888-CA508F6F414C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E32724A-B22C-8F4B-9B4F-5C4FE0AA9000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2704542-0DC1-B65E-DC00-5B4F7D1CBE4F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933C295-BAC4-77F5-70EB-02DB0C23FF35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8DEDF3-1EDC-B0E8-79B8-42F5DD4CB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9080" y="602145"/>
            <a:ext cx="60952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19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3D09-698B-7A64-3221-AC0FB14A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B4CCF2BF-5B67-605A-369F-0275CFEC975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B4CCF2BF-5B67-605A-369F-0275CFEC97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49753CF0-5D86-9494-D7E4-ADEF3CCC07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49753CF0-5D86-9494-D7E4-ADEF3CCC07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BD35A21-02D1-462C-EEA5-95FB9C54FF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D6928F-456F-7916-887E-5E15DA52BD57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E2FDD8-0E07-B4B2-4265-8F752DEECEDA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5A2685FE-4A18-9672-4EF1-8EB16F674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3F1FFC9-4A6B-6003-F547-51857403617A}"/>
              </a:ext>
            </a:extLst>
          </p:cNvPr>
          <p:cNvSpPr/>
          <p:nvPr/>
        </p:nvSpPr>
        <p:spPr>
          <a:xfrm>
            <a:off x="3543284" y="509155"/>
            <a:ext cx="7808782" cy="594843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39CB64-3CDF-3186-C946-3DCED3BDEA2F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B63770-6DEA-BFC4-6B7E-17716EDAAC28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7266F7C-7112-6857-3276-38D962A671E6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77FCFC4-1359-2927-1360-49FA25EA9ADE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64095CD-1E26-F086-E3F5-5372B1751930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F166B42-3698-80D3-503B-2B0EACB98541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12D5A8-E9BB-CC02-6923-8CFD174D7181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7272E3-9B0F-7F61-DB62-2F3F5A7A9721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AD4F3CD-7032-820B-3800-38A59635AD94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2F3CB5-D94D-F7E7-1088-EFCC0A1970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9080" y="602145"/>
            <a:ext cx="60952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17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C03B-4BDE-D24D-68E1-E4BABD28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867D622E-40C5-B604-58FC-490AA9918B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867D622E-40C5-B604-58FC-490AA9918B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D73AE98E-E1E9-33C4-6CCB-317768AA87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D73AE98E-E1E9-33C4-6CCB-317768AA87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CD42243-BFDA-8DE8-C7D1-1AAC32287C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E9B0D7-3FDB-26F5-0B44-42457DD0176D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6AAE7C-A5B1-4709-D899-61F9F312EFE2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Bar graph with upward trend with solid fill">
            <a:extLst>
              <a:ext uri="{FF2B5EF4-FFF2-40B4-BE49-F238E27FC236}">
                <a16:creationId xmlns:a16="http://schemas.microsoft.com/office/drawing/2014/main" id="{A0AB65A8-F314-05F9-E99C-AA11E87A5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42B259B-C49E-FFB1-FE2B-D80635DE446D}"/>
              </a:ext>
            </a:extLst>
          </p:cNvPr>
          <p:cNvSpPr/>
          <p:nvPr/>
        </p:nvSpPr>
        <p:spPr>
          <a:xfrm>
            <a:off x="3543284" y="509155"/>
            <a:ext cx="7808782" cy="594843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DAB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333708-2DFC-05CD-2F18-A112C18ECB9B}"/>
              </a:ext>
            </a:extLst>
          </p:cNvPr>
          <p:cNvGrpSpPr/>
          <p:nvPr/>
        </p:nvGrpSpPr>
        <p:grpSpPr>
          <a:xfrm rot="1873987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B9296E2-F471-2E12-FD4C-0ECCECA9DA9B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E439BB7-0020-1655-5E2C-21B473B7B67F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054BBC7-4B45-B1E3-1A03-B03199A3C2D8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0A6D34-1AE6-9E07-3EF6-5B9AD2786379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C3A9B40-CC79-DDB5-5CCB-D0A100B9F842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89EC9E-52D4-68E4-972C-BAFEEB1BF30C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068D8F-25F3-7C35-11EA-518506295D9C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FC343A9-D9D5-65F4-8071-09F957517F24}"/>
              </a:ext>
            </a:extLst>
          </p:cNvPr>
          <p:cNvSpPr txBox="1"/>
          <p:nvPr/>
        </p:nvSpPr>
        <p:spPr>
          <a:xfrm>
            <a:off x="-159700" y="344434"/>
            <a:ext cx="233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Visualizations</a:t>
            </a:r>
            <a:br>
              <a:rPr lang="en-US" sz="2000" dirty="0"/>
            </a:br>
            <a:r>
              <a:rPr lang="en-US" sz="2000" dirty="0"/>
              <a:t>&amp; Insights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B19820-79B8-C3D8-CD92-5C8D8D487B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9080" y="602145"/>
            <a:ext cx="60952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70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0B1B8-6AD2-5713-3B28-0A3031F5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ADBB7A95-B5DB-A918-8BE8-FA7B73EFE5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ADBB7A95-B5DB-A918-8BE8-FA7B73EFE5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67327F4E-EB26-0345-999D-0F0A3E5B40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67327F4E-EB26-0345-999D-0F0A3E5B40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8CF6F95-EFB1-FFA1-21E4-56739A75A8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C8FDE-DC3C-C1D9-7CC0-F2697B6ABF1D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4B9562-0212-4C31-488E-2125BE2CA5CB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29F667-CE06-C3A6-33EC-647AF03D5A48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E2821DD-7AAD-A6FA-3E9A-38A1658A01D4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A4DE02-13FA-34F2-CE41-2717139CA858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210DA98-A8E2-7FD4-3160-F9436EA6E85B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F6B5B90-3E48-AA76-F9A3-5D60762615C0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CA2F84-5B18-5096-7726-82EC2C316EAA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3B91986-9C41-0DB3-8138-D474645BFB99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4CAD23-A2AD-F83D-0DD4-C2F599B708AC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C6CFE07-0EEF-A1A2-EE56-CFC895A070DC}"/>
              </a:ext>
            </a:extLst>
          </p:cNvPr>
          <p:cNvSpPr txBox="1"/>
          <p:nvPr/>
        </p:nvSpPr>
        <p:spPr>
          <a:xfrm>
            <a:off x="4211027" y="1703630"/>
            <a:ext cx="7566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“ Based on the data insights, we are presenting 4 actionable recommendations to the business owner to secure data integrity, minimize operational bottlenecks, and maximize profitability. ”</a:t>
            </a:r>
            <a:endParaRPr lang="en-US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0" name="Graphic 9" descr="Clipboard Mixed with solid fill">
            <a:extLst>
              <a:ext uri="{FF2B5EF4-FFF2-40B4-BE49-F238E27FC236}">
                <a16:creationId xmlns:a16="http://schemas.microsoft.com/office/drawing/2014/main" id="{840A5B9A-EBD5-2D22-A82C-9820562253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21" y="2767746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7AEE19-C6C8-4E8A-589F-FE6837151874}"/>
              </a:ext>
            </a:extLst>
          </p:cNvPr>
          <p:cNvSpPr txBox="1"/>
          <p:nvPr/>
        </p:nvSpPr>
        <p:spPr>
          <a:xfrm>
            <a:off x="-14050" y="762329"/>
            <a:ext cx="261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Insights &amp; 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3595478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3B42-5141-D9E2-E2EC-594A91F4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66DCB8FA-65A0-A15B-67FB-F0269C71FBC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66DCB8FA-65A0-A15B-67FB-F0269C71FB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5043C366-05CC-829F-387E-58F17CEDCA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5043C366-05CC-829F-387E-58F17CEDCA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01B2D9B-CB47-9386-41BA-A4CA33BA4D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11323C-70D4-EA71-35E3-13C7684C1580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B73E09-F1A1-A269-3DA2-DC1ACBD42D3F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7004A-9C9D-A5E9-5E57-34D6F6E333A6}"/>
              </a:ext>
            </a:extLst>
          </p:cNvPr>
          <p:cNvSpPr txBox="1"/>
          <p:nvPr/>
        </p:nvSpPr>
        <p:spPr>
          <a:xfrm>
            <a:off x="3988750" y="766252"/>
            <a:ext cx="7151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Sales Performance &amp; Temporal Gaps</a:t>
            </a:r>
          </a:p>
        </p:txBody>
      </p:sp>
      <p:pic>
        <p:nvPicPr>
          <p:cNvPr id="16" name="Graphic 15" descr="Presentation with org chart with solid fill">
            <a:extLst>
              <a:ext uri="{FF2B5EF4-FFF2-40B4-BE49-F238E27FC236}">
                <a16:creationId xmlns:a16="http://schemas.microsoft.com/office/drawing/2014/main" id="{A925C6FA-188B-C756-A972-18A3FC21C1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400" y="283197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D1F2D2-D55F-48C3-3CEA-8F757E94902A}"/>
              </a:ext>
            </a:extLst>
          </p:cNvPr>
          <p:cNvSpPr txBox="1"/>
          <p:nvPr/>
        </p:nvSpPr>
        <p:spPr>
          <a:xfrm>
            <a:off x="7933436" y="1662973"/>
            <a:ext cx="336114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“ Sudden, sharp revenue drop in 2024 compared to 2023, causing cash-flow instability. ”</a:t>
            </a:r>
          </a:p>
          <a:p>
            <a:endParaRPr lang="en-US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603BF-5724-790C-1A5F-4D2C92CE43CB}"/>
              </a:ext>
            </a:extLst>
          </p:cNvPr>
          <p:cNvSpPr txBox="1"/>
          <p:nvPr/>
        </p:nvSpPr>
        <p:spPr>
          <a:xfrm>
            <a:off x="4102432" y="1616329"/>
            <a:ext cx="37121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Total Amount in:</a:t>
            </a:r>
          </a:p>
          <a:p>
            <a:endParaRPr lang="ar-EG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ar-EG" sz="36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2023</a:t>
            </a:r>
            <a:endParaRPr lang="en-US" sz="3600" b="1" dirty="0">
              <a:solidFill>
                <a:srgbClr val="DABA52"/>
              </a:solidFill>
              <a:latin typeface="Bookman Old Style" panose="02050604050505020204" pitchFamily="18" charset="0"/>
            </a:endParaRPr>
          </a:p>
          <a:p>
            <a: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$366M</a:t>
            </a:r>
          </a:p>
          <a:p>
            <a:endParaRPr lang="ar-EG" sz="36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ar-EG" sz="36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2024</a:t>
            </a:r>
          </a:p>
          <a:p>
            <a: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$66M</a:t>
            </a:r>
            <a:endParaRPr lang="ar-EG" sz="36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60211CB-7362-90C7-2592-582E64FB36E2}"/>
              </a:ext>
            </a:extLst>
          </p:cNvPr>
          <p:cNvSpPr/>
          <p:nvPr/>
        </p:nvSpPr>
        <p:spPr>
          <a:xfrm>
            <a:off x="3967370" y="1537031"/>
            <a:ext cx="110425" cy="593888"/>
          </a:xfrm>
          <a:prstGeom prst="roundRect">
            <a:avLst/>
          </a:prstGeom>
          <a:solidFill>
            <a:srgbClr val="DAB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6FA181-255A-B20E-F3EB-35A318D74E21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ADE19A4-A7A1-5C58-E1A1-C30C0CC79B6F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684E0BC-CEC0-3C10-9ECC-B004A1393D39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2F43C23-A3A0-411F-DC7C-BE44C404113A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EDC4F40-FCF6-1E7F-A47A-DC8E043EAA8C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17D27DA-A1CB-9656-E000-D028C56A96A9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D56D9F-87DA-A7B6-91E2-272DA277E915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57EEBE7-AF98-BBB4-1B97-BCA013F4E61F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9054D-1642-1FFA-7DE0-3EC1E2534418}"/>
              </a:ext>
            </a:extLst>
          </p:cNvPr>
          <p:cNvSpPr txBox="1"/>
          <p:nvPr/>
        </p:nvSpPr>
        <p:spPr>
          <a:xfrm>
            <a:off x="-14050" y="762329"/>
            <a:ext cx="261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Insights &amp; 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1482146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29E4-F9A4-E3E1-4212-0C35BA75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7F159EF6-79AF-D311-665B-8CBF3A539F2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7F159EF6-79AF-D311-665B-8CBF3A539F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EA798935-B369-F3C7-20DF-39A81E9F55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EA798935-B369-F3C7-20DF-39A81E9F55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FD92D9E-48A4-ABBF-DA49-D01254C0EC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64EE6-5077-16B6-CF3B-2A1C5EEC3A5D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F205B0-545E-E17F-31CC-F78D36F5CD0E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66C20A-6860-29AF-9D0C-B45A1BB94E4B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EE4D4C6-32E1-AC5B-224E-B7B00FB1E9F6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749199B-EC1A-E831-AF5B-6C295B10D6B9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14AC75-DC4C-4CA3-C470-FCDF63911DE3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C38C95-0151-650D-0A26-380A0B594487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A951B75-E815-B3C1-4D98-4E40B29B090B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CAB060C-6795-C264-1C79-7E0206288A34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B985DA-3A42-8113-9C53-09402F761F88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5BCC68A-E4C4-D192-84F7-B4B82EBA3BA3}"/>
              </a:ext>
            </a:extLst>
          </p:cNvPr>
          <p:cNvSpPr txBox="1"/>
          <p:nvPr/>
        </p:nvSpPr>
        <p:spPr>
          <a:xfrm>
            <a:off x="3874161" y="559017"/>
            <a:ext cx="780061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Strategic Recommendations for the Business Owner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1. Data Governance &amp; Reporting</a:t>
            </a: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Advice: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b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Implement a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Real-Time Data Sync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and fix Customer Relationship Management (CRM) entity resolution.</a:t>
            </a: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Reason: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Your 2024 revenue looks like it dropped by 80%, but our technical audit proved it’s just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incomplete data collection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. Fixing this prevents you from making panicked business decisions based on lagging or distorted reports.</a:t>
            </a:r>
          </a:p>
        </p:txBody>
      </p:sp>
      <p:pic>
        <p:nvPicPr>
          <p:cNvPr id="10" name="Graphic 9" descr="Clipboard Mixed with solid fill">
            <a:extLst>
              <a:ext uri="{FF2B5EF4-FFF2-40B4-BE49-F238E27FC236}">
                <a16:creationId xmlns:a16="http://schemas.microsoft.com/office/drawing/2014/main" id="{EEC0AA95-65C6-1F29-3C3E-37E7E935D4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21" y="2767746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D89CCD-26DC-0066-5E30-49372B565CE5}"/>
              </a:ext>
            </a:extLst>
          </p:cNvPr>
          <p:cNvSpPr txBox="1"/>
          <p:nvPr/>
        </p:nvSpPr>
        <p:spPr>
          <a:xfrm>
            <a:off x="-14050" y="762329"/>
            <a:ext cx="261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240711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A773D-0301-6E7C-5F81-BB5EC416A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055A29F2-A302-E8DA-EB71-7268C4E8A7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055A29F2-A302-E8DA-EB71-7268C4E8A7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4154F268-E2E9-6F4E-90F0-EBC568FB9D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4154F268-E2E9-6F4E-90F0-EBC568FB9D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873072-7A86-4CAF-9ABB-A53185739B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BA57B9-14D4-5F98-EFCC-CDAD9712967B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FAAFC3-897D-4478-7A2A-E185FD58D0D8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74EFA7-83CC-0227-FEB1-6A18CE16D0F2}"/>
              </a:ext>
            </a:extLst>
          </p:cNvPr>
          <p:cNvSpPr txBox="1"/>
          <p:nvPr/>
        </p:nvSpPr>
        <p:spPr>
          <a:xfrm>
            <a:off x="3988749" y="766252"/>
            <a:ext cx="7499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Customer Persona &amp; Demographic Analysis</a:t>
            </a:r>
          </a:p>
        </p:txBody>
      </p:sp>
      <p:pic>
        <p:nvPicPr>
          <p:cNvPr id="16" name="Graphic 15" descr="Presentation with org chart with solid fill">
            <a:extLst>
              <a:ext uri="{FF2B5EF4-FFF2-40B4-BE49-F238E27FC236}">
                <a16:creationId xmlns:a16="http://schemas.microsoft.com/office/drawing/2014/main" id="{7E344CB5-CB10-0D0C-6EEB-9D92D828FD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400" y="283197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F98BAE-74F0-AF27-AE8C-BBF0DDF21491}"/>
              </a:ext>
            </a:extLst>
          </p:cNvPr>
          <p:cNvSpPr txBox="1"/>
          <p:nvPr/>
        </p:nvSpPr>
        <p:spPr>
          <a:xfrm>
            <a:off x="8409914" y="2477746"/>
            <a:ext cx="33863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“ Low sales from older demographics &gt;50 ”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D69AB-D5E7-AB64-2AB1-003BE4160004}"/>
              </a:ext>
            </a:extLst>
          </p:cNvPr>
          <p:cNvSpPr txBox="1"/>
          <p:nvPr/>
        </p:nvSpPr>
        <p:spPr>
          <a:xfrm>
            <a:off x="4130451" y="1497172"/>
            <a:ext cx="4209774" cy="16927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Total Customers</a:t>
            </a:r>
            <a:endParaRPr lang="ar-EG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Males: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78.2K</a:t>
            </a:r>
            <a:endParaRPr lang="ar-EG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Females: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63.8K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Unknown: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310</a:t>
            </a:r>
            <a:endParaRPr lang="ar-EG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260252-30B6-E19E-3620-B66D0487F96B}"/>
              </a:ext>
            </a:extLst>
          </p:cNvPr>
          <p:cNvSpPr txBox="1"/>
          <p:nvPr/>
        </p:nvSpPr>
        <p:spPr>
          <a:xfrm>
            <a:off x="4091041" y="4138674"/>
            <a:ext cx="4209774" cy="12618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Core Segment </a:t>
            </a:r>
            <a:br>
              <a:rPr lang="en-US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Young adults aged 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20 – 45</a:t>
            </a:r>
            <a:endParaRPr lang="en-US" sz="2400" b="1" dirty="0">
              <a:solidFill>
                <a:srgbClr val="DABA5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F0C66F-F2B5-51E0-AC85-95A23EAA889A}"/>
              </a:ext>
            </a:extLst>
          </p:cNvPr>
          <p:cNvSpPr/>
          <p:nvPr/>
        </p:nvSpPr>
        <p:spPr>
          <a:xfrm>
            <a:off x="3967370" y="1537031"/>
            <a:ext cx="110425" cy="593888"/>
          </a:xfrm>
          <a:prstGeom prst="roundRect">
            <a:avLst/>
          </a:prstGeom>
          <a:solidFill>
            <a:srgbClr val="DAB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8CD7AC-AE28-7FC3-C2A8-27FB7200EBD5}"/>
              </a:ext>
            </a:extLst>
          </p:cNvPr>
          <p:cNvSpPr/>
          <p:nvPr/>
        </p:nvSpPr>
        <p:spPr>
          <a:xfrm>
            <a:off x="3967370" y="4235321"/>
            <a:ext cx="110425" cy="593888"/>
          </a:xfrm>
          <a:prstGeom prst="roundRect">
            <a:avLst/>
          </a:prstGeom>
          <a:solidFill>
            <a:srgbClr val="DAB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E1EFF0E-AC02-2F26-3AC7-706CB1C36665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43D81E7-0E28-7775-D7E3-217C8C767923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DDFEEBE-7371-1E54-D4D1-69BD2D8E46D3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6F34497-3893-9A3B-CFB7-CB2CFE31F54B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0149C08-D23E-05FF-C3A9-D304E6DB138D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17278B2-69D8-457B-8489-D7539E297145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CC8D64-DB15-1E75-B14B-A25657DCD21E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54C8C90-3381-BB77-EB60-CB233824E9F7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83E1B60-7490-9937-1683-7859979CF217}"/>
              </a:ext>
            </a:extLst>
          </p:cNvPr>
          <p:cNvSpPr txBox="1"/>
          <p:nvPr/>
        </p:nvSpPr>
        <p:spPr>
          <a:xfrm>
            <a:off x="-14050" y="762329"/>
            <a:ext cx="261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Insights &amp; 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1970340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FA57-5D4B-15C1-FC9F-F3F7B721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7BD5BE54-67AF-0875-0F0C-EDDC5EEB62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7BD5BE54-67AF-0875-0F0C-EDDC5EEB62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C6C77D9A-C12C-9895-598C-B255B328F2F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C6C77D9A-C12C-9895-598C-B255B328F2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106E7A6-D7B2-6DE6-6683-7AB2B060B7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D7B285-73B7-B4FD-947F-5E00864289CB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3A5F9B-0C86-24B5-379C-10F8902A3663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9C11E8-63DA-8A51-0558-E6CE4EB7DA5C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8E7AF97-85EA-D59C-4CF9-16DA86EF1FF8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775C026-C228-8A17-4A10-B1D0BBF13DF7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916871E-8EF8-855E-71D5-2435DA372384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CA4180-D6DC-A005-3439-3070F7199276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5877EA-4CF6-048D-5790-3910C35BB02E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BE95-B2E6-7084-B507-ABD52947F734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DE9AA65-6331-DE91-478A-A929ABB9EFFF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F2DC515-EA3D-8079-1B3D-25D0AA82F8B3}"/>
              </a:ext>
            </a:extLst>
          </p:cNvPr>
          <p:cNvSpPr txBox="1"/>
          <p:nvPr/>
        </p:nvSpPr>
        <p:spPr>
          <a:xfrm>
            <a:off x="3891789" y="914011"/>
            <a:ext cx="7566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2. Marketing &amp; Revenue Optimization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Advice: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Allocate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70% of your ad budget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to target young adults (aged 20–45) with Medium/High incomes in </a:t>
            </a:r>
            <a:r>
              <a:rPr lang="en-US" sz="2800">
                <a:solidFill>
                  <a:schemeClr val="bg1"/>
                </a:solidFill>
                <a:latin typeface="Bookman Old Style" panose="02050604050505020204" pitchFamily="18" charset="0"/>
              </a:rPr>
              <a:t>the USA.</a:t>
            </a:r>
            <a:endParaRPr lang="en-US" sz="28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Reason: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This demographic is your core revenue engine. Shifting away from generalized campaigns will instantly maximize your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Return on Ad Spend (ROAS)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10" name="Graphic 9" descr="Clipboard Mixed with solid fill">
            <a:extLst>
              <a:ext uri="{FF2B5EF4-FFF2-40B4-BE49-F238E27FC236}">
                <a16:creationId xmlns:a16="http://schemas.microsoft.com/office/drawing/2014/main" id="{C989FF5C-9CBB-84B4-8CD1-AA5206965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21" y="2767746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4C0C67-2B26-877A-7F9F-EB57A36EA5E9}"/>
              </a:ext>
            </a:extLst>
          </p:cNvPr>
          <p:cNvSpPr txBox="1"/>
          <p:nvPr/>
        </p:nvSpPr>
        <p:spPr>
          <a:xfrm>
            <a:off x="-14050" y="762329"/>
            <a:ext cx="261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2870376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0E3E-1E63-C23B-204F-AC8368EF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39385F71-DA4B-E9A1-E4C4-F5B91F95EE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39385F71-DA4B-E9A1-E4C4-F5B91F95EE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C9385DCB-8E02-B1A8-952F-709DAF1811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C9385DCB-8E02-B1A8-952F-709DAF181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1CC346A-B8A8-A524-B259-59997C58A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9770AE-880A-F374-8D34-22A2E180B3AA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3A7AE1-81E6-0F43-7CA6-C79AF6CDC122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F568B-093A-824D-EB9E-9EB98152515C}"/>
              </a:ext>
            </a:extLst>
          </p:cNvPr>
          <p:cNvSpPr txBox="1"/>
          <p:nvPr/>
        </p:nvSpPr>
        <p:spPr>
          <a:xfrm>
            <a:off x="3988749" y="766252"/>
            <a:ext cx="7499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Customer Persona &amp; Demographic Analysis</a:t>
            </a:r>
          </a:p>
        </p:txBody>
      </p:sp>
      <p:pic>
        <p:nvPicPr>
          <p:cNvPr id="16" name="Graphic 15" descr="Presentation with org chart with solid fill">
            <a:extLst>
              <a:ext uri="{FF2B5EF4-FFF2-40B4-BE49-F238E27FC236}">
                <a16:creationId xmlns:a16="http://schemas.microsoft.com/office/drawing/2014/main" id="{BC501408-7F6A-86CF-F101-96C689B07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400" y="283197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91BE66A-00C1-5970-AB0D-ABE1D3766661}"/>
              </a:ext>
            </a:extLst>
          </p:cNvPr>
          <p:cNvSpPr txBox="1"/>
          <p:nvPr/>
        </p:nvSpPr>
        <p:spPr>
          <a:xfrm>
            <a:off x="8572943" y="1742774"/>
            <a:ext cx="33863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“ low revenue contribution from the "Premium" segment. ”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7DA2D5-8FD1-60D5-31BE-2D5798D9A9F4}"/>
              </a:ext>
            </a:extLst>
          </p:cNvPr>
          <p:cNvSpPr txBox="1"/>
          <p:nvPr/>
        </p:nvSpPr>
        <p:spPr>
          <a:xfrm>
            <a:off x="4123175" y="1740753"/>
            <a:ext cx="4209774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"</a:t>
            </a:r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Regular</a:t>
            </a:r>
            <a:r>
              <a:rPr lang="en-US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" segment drives the bulk of sales.</a:t>
            </a:r>
          </a:p>
          <a:p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32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Premium: </a:t>
            </a: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$85M </a:t>
            </a:r>
            <a:endParaRPr lang="ar-EG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32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Regular: </a:t>
            </a: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$196M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9545C8-AD41-6082-C48B-46A5437CE9DA}"/>
              </a:ext>
            </a:extLst>
          </p:cNvPr>
          <p:cNvSpPr/>
          <p:nvPr/>
        </p:nvSpPr>
        <p:spPr>
          <a:xfrm>
            <a:off x="3947886" y="1866938"/>
            <a:ext cx="110425" cy="593888"/>
          </a:xfrm>
          <a:prstGeom prst="roundRect">
            <a:avLst/>
          </a:prstGeom>
          <a:solidFill>
            <a:srgbClr val="DAB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2393DB-EB2C-FBAE-BD00-3326CE1FF9EC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C974A6E-8518-5B72-2565-2E2F05F67927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F1DE1AC-142D-2B4A-02A9-855158C0B5B8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02289FD-6562-82CE-EA2F-7FDF67E3097B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6DE6821-03DF-2A6D-42C9-15EF0194DC31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2122DDF-1741-AD0C-52F9-10FE57511FBA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74FD0D0-CF23-7682-5D57-0FF233DFF158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846FC92-59BE-36B5-A3AA-9F6FEB2C1ACB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BE000BD-F4FC-6107-6861-8D047B91ADBA}"/>
              </a:ext>
            </a:extLst>
          </p:cNvPr>
          <p:cNvSpPr txBox="1"/>
          <p:nvPr/>
        </p:nvSpPr>
        <p:spPr>
          <a:xfrm>
            <a:off x="-14050" y="762329"/>
            <a:ext cx="261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Insights &amp; 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2264541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C6D5-91BA-C300-F69C-F33EB421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24B6FD0D-6A71-B562-FB7C-0C6A34B7FAB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24B6FD0D-6A71-B562-FB7C-0C6A34B7FA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184F7FE8-3676-4863-90BD-A6808FB8B1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184F7FE8-3676-4863-90BD-A6808FB8B1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1EAB0B3-48BD-63AF-D514-B89295C5E8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BB5895-CA6E-9444-A5BF-1207B168BF7F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D25D37-B927-B1C0-53C2-D8A16D9757B7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AF2914-6320-D20A-E196-174F89112A93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CD66717-736C-9D45-00E8-C6F80A261985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3B12D05-987F-25C2-FFFE-9617547B2286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B239D78-2D99-2089-7C5D-05D2E29CD454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E80FC5-D533-81FD-0A32-0CEDA6769E8F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D044F2-07CC-6A44-280E-FC09C7DDF218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794D499-772B-1CEC-8F9A-3B7817E69C9D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36EE18A-A469-4D3D-CE27-49D6007D4F1B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153F849-1922-FAA8-2941-739246AE4A93}"/>
              </a:ext>
            </a:extLst>
          </p:cNvPr>
          <p:cNvSpPr txBox="1"/>
          <p:nvPr/>
        </p:nvSpPr>
        <p:spPr>
          <a:xfrm>
            <a:off x="3943936" y="1155978"/>
            <a:ext cx="75669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3. Customer Retention Strategy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Advice: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Launch an exclusive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VIP / Premium Loyalty Program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to convert "Regular" buyers into "Premium" ones.</a:t>
            </a: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Reason: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Premium segment yields your highest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Customer Lifetime Value (CLV)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. Retaining these high-value assets is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5 times cheaper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than acquiring new ones.</a:t>
            </a:r>
          </a:p>
        </p:txBody>
      </p:sp>
      <p:pic>
        <p:nvPicPr>
          <p:cNvPr id="10" name="Graphic 9" descr="Clipboard Mixed with solid fill">
            <a:extLst>
              <a:ext uri="{FF2B5EF4-FFF2-40B4-BE49-F238E27FC236}">
                <a16:creationId xmlns:a16="http://schemas.microsoft.com/office/drawing/2014/main" id="{712BCAC6-5818-27BB-0BA5-0668D7EF4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21" y="2767746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D36166-F15A-80DC-DAAC-6FDEF54EAECE}"/>
              </a:ext>
            </a:extLst>
          </p:cNvPr>
          <p:cNvSpPr txBox="1"/>
          <p:nvPr/>
        </p:nvSpPr>
        <p:spPr>
          <a:xfrm>
            <a:off x="-14050" y="762329"/>
            <a:ext cx="261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1544337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8DCA7-FBC7-74D4-36A0-3EF60E05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B502EDAE-1965-79A6-7B9C-CFE0F9B0076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B502EDAE-1965-79A6-7B9C-CFE0F9B007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C8531CBD-34E0-2F0D-6490-EAFF8E3E253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C8531CBD-34E0-2F0D-6490-EAFF8E3E25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38DE023-F63A-9757-52D5-84E5937E82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B3EBE-791B-65D4-8A5D-97B57D7A99BE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E07903-5008-B8BD-81A3-63D122EF4ED0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7C83A-0A18-2130-F26F-FA6DB29AF17E}"/>
              </a:ext>
            </a:extLst>
          </p:cNvPr>
          <p:cNvSpPr txBox="1"/>
          <p:nvPr/>
        </p:nvSpPr>
        <p:spPr>
          <a:xfrm>
            <a:off x="3988750" y="766252"/>
            <a:ext cx="754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Operational Excellence &amp; Fulfillment</a:t>
            </a:r>
          </a:p>
        </p:txBody>
      </p:sp>
      <p:pic>
        <p:nvPicPr>
          <p:cNvPr id="16" name="Graphic 15" descr="Presentation with org chart with solid fill">
            <a:extLst>
              <a:ext uri="{FF2B5EF4-FFF2-40B4-BE49-F238E27FC236}">
                <a16:creationId xmlns:a16="http://schemas.microsoft.com/office/drawing/2014/main" id="{6331DC84-39C8-7F0A-2A66-458868F71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400" y="283197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8265E5-356D-2271-E0C7-618ACC2567EB}"/>
              </a:ext>
            </a:extLst>
          </p:cNvPr>
          <p:cNvSpPr txBox="1"/>
          <p:nvPr/>
        </p:nvSpPr>
        <p:spPr>
          <a:xfrm>
            <a:off x="8161068" y="1785667"/>
            <a:ext cx="35789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“ The Problem:</a:t>
            </a:r>
          </a:p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High backlog of orders stuck in Shipped, Processing, and Pending statuses, indicating shipping bottlenecks. ”</a:t>
            </a:r>
          </a:p>
          <a:p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8F2DE-0016-E689-793D-14CF8A0FC94E}"/>
              </a:ext>
            </a:extLst>
          </p:cNvPr>
          <p:cNvSpPr txBox="1"/>
          <p:nvPr/>
        </p:nvSpPr>
        <p:spPr>
          <a:xfrm>
            <a:off x="4130451" y="1444418"/>
            <a:ext cx="420977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Total Orders: </a:t>
            </a: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294,462</a:t>
            </a:r>
            <a:endParaRPr lang="en-US" sz="2800" dirty="0">
              <a:solidFill>
                <a:srgbClr val="DABA5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155C8-8A4F-4A02-1429-70720F3FAADF}"/>
              </a:ext>
            </a:extLst>
          </p:cNvPr>
          <p:cNvSpPr txBox="1"/>
          <p:nvPr/>
        </p:nvSpPr>
        <p:spPr>
          <a:xfrm>
            <a:off x="4132267" y="2655907"/>
            <a:ext cx="374580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Order Status: </a:t>
            </a:r>
            <a:b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Shipped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63.2K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Processing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55.5K</a:t>
            </a:r>
            <a:endParaRPr lang="en-US" sz="2000" dirty="0"/>
          </a:p>
          <a:p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Delivered</a:t>
            </a: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127.8K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A76D69F-4777-181A-960C-8176DB11928C}"/>
              </a:ext>
            </a:extLst>
          </p:cNvPr>
          <p:cNvSpPr/>
          <p:nvPr/>
        </p:nvSpPr>
        <p:spPr>
          <a:xfrm>
            <a:off x="3967370" y="1537031"/>
            <a:ext cx="110425" cy="593888"/>
          </a:xfrm>
          <a:prstGeom prst="roundRect">
            <a:avLst/>
          </a:prstGeom>
          <a:solidFill>
            <a:srgbClr val="DAB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6E7F5C-F2EA-3250-7012-3DACA026ED80}"/>
              </a:ext>
            </a:extLst>
          </p:cNvPr>
          <p:cNvSpPr/>
          <p:nvPr/>
        </p:nvSpPr>
        <p:spPr>
          <a:xfrm>
            <a:off x="3962158" y="2796695"/>
            <a:ext cx="110425" cy="593888"/>
          </a:xfrm>
          <a:prstGeom prst="roundRect">
            <a:avLst/>
          </a:prstGeom>
          <a:solidFill>
            <a:srgbClr val="DAB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descr="Arrow: Rotate left with solid fill">
            <a:extLst>
              <a:ext uri="{FF2B5EF4-FFF2-40B4-BE49-F238E27FC236}">
                <a16:creationId xmlns:a16="http://schemas.microsoft.com/office/drawing/2014/main" id="{DD513DA4-EABC-AB93-6B50-C7FEB513A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3108" y="4332379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8A051C5-4BA4-7183-ECED-37645DC26786}"/>
              </a:ext>
            </a:extLst>
          </p:cNvPr>
          <p:cNvSpPr txBox="1"/>
          <p:nvPr/>
        </p:nvSpPr>
        <p:spPr>
          <a:xfrm>
            <a:off x="4130451" y="5020937"/>
            <a:ext cx="3670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DABA52"/>
                </a:solidFill>
                <a:latin typeface="Bookman Old Style" panose="02050604050505020204" pitchFamily="18" charset="0"/>
              </a:rPr>
              <a:t>2023</a:t>
            </a:r>
            <a:r>
              <a:rPr lang="en-US" sz="32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83</a:t>
            </a: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%</a:t>
            </a:r>
          </a:p>
          <a:p>
            <a:pPr algn="ctr"/>
            <a:r>
              <a:rPr lang="en-US" sz="3200" b="1" u="sng" dirty="0">
                <a:solidFill>
                  <a:srgbClr val="DABA52"/>
                </a:solidFill>
                <a:latin typeface="Bookman Old Style" panose="02050604050505020204" pitchFamily="18" charset="0"/>
              </a:rPr>
              <a:t>2024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16</a:t>
            </a: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%</a:t>
            </a:r>
            <a:endParaRPr lang="ar-EG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B4FC6E-4796-17B0-300A-3626CF4DB9EA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67616F6-099F-C5BC-5C17-57044566CC39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71440E1-890C-D648-A0D2-484C249DC3D1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77F2C79-E1B7-1D57-5595-6C81589FE112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27AF9EE-E4E5-C870-F06E-9869A1F5C771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063EC9-C74A-9D4E-1E72-ED492E83967A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7C87B4A-D2BC-0297-D4BD-EF25D90845FA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D172FC6-8E7F-2A40-53AE-28B3AAD437C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1FE93BB-8960-47F9-03B3-5DB2B3AB1FBE}"/>
              </a:ext>
            </a:extLst>
          </p:cNvPr>
          <p:cNvSpPr txBox="1"/>
          <p:nvPr/>
        </p:nvSpPr>
        <p:spPr>
          <a:xfrm>
            <a:off x="-14050" y="762329"/>
            <a:ext cx="261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Insights &amp; 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3040961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CDE9B-C087-1BC7-F9E8-B0AFF292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105E54A3-9AE5-B070-5A73-43FA6E88B38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105E54A3-9AE5-B070-5A73-43FA6E88B3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EEA50763-77C7-59BA-2D20-2CF39C3E7C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EEA50763-77C7-59BA-2D20-2CF39C3E7C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EC6B95B-07F8-C68B-9076-3D5225857E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BB319-E8F6-F933-184E-07EFD222BF0F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F81DE2-2F2D-54B2-9E63-3713C1A1C74A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F18E9C-BC80-6EAA-7E26-9463EAB14910}"/>
              </a:ext>
            </a:extLst>
          </p:cNvPr>
          <p:cNvGrpSpPr/>
          <p:nvPr/>
        </p:nvGrpSpPr>
        <p:grpSpPr>
          <a:xfrm rot="17695325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655A187-5AAE-6C52-9B27-E666107F5F97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9BAF98B-E704-08B3-F470-D6FBCD44B271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79AB7A9-4639-548A-CA5D-53318ACB0B56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436CA4-DAE1-535D-599A-B745BC9F7060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FF2CF4-239A-6B6F-DDED-61020CA1CB93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2A77102-D849-53F0-48E9-AACA265E3E2B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6E1264-E04F-F82D-E7DA-632E251164EA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008B7EA-15DC-125B-69FA-1D783B7400FB}"/>
              </a:ext>
            </a:extLst>
          </p:cNvPr>
          <p:cNvSpPr txBox="1"/>
          <p:nvPr/>
        </p:nvSpPr>
        <p:spPr>
          <a:xfrm>
            <a:off x="3955951" y="1011782"/>
            <a:ext cx="75669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4. Supply Chain &amp; Logistics Overhaul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Advice: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Audit and review current shipping vendors to accelerate order fulfillment.</a:t>
            </a:r>
          </a:p>
          <a:p>
            <a:r>
              <a:rPr lang="en-US" sz="2800" b="1" dirty="0">
                <a:solidFill>
                  <a:srgbClr val="DABA52"/>
                </a:solidFill>
                <a:latin typeface="Bookman Old Style" panose="02050604050505020204" pitchFamily="18" charset="0"/>
              </a:rPr>
              <a:t>The Reason:</a:t>
            </a:r>
            <a:r>
              <a:rPr lang="en-US" sz="2800" dirty="0">
                <a:solidFill>
                  <a:srgbClr val="DABA52"/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A massive backlog of orders is currently stuck in </a:t>
            </a:r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"Shipped" and "Processing"</a:t>
            </a:r>
            <a:r>
              <a:rPr lang="en-US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 statuses. Clearing this bottleneck will reduce order cancellations and boost customer satisfaction.</a:t>
            </a:r>
          </a:p>
        </p:txBody>
      </p:sp>
      <p:pic>
        <p:nvPicPr>
          <p:cNvPr id="10" name="Graphic 9" descr="Clipboard Mixed with solid fill">
            <a:extLst>
              <a:ext uri="{FF2B5EF4-FFF2-40B4-BE49-F238E27FC236}">
                <a16:creationId xmlns:a16="http://schemas.microsoft.com/office/drawing/2014/main" id="{763E498C-D3DA-619E-4869-115FBE096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21" y="2767746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3AA312-CB61-3AE6-E30B-353ECB44AA76}"/>
              </a:ext>
            </a:extLst>
          </p:cNvPr>
          <p:cNvSpPr txBox="1"/>
          <p:nvPr/>
        </p:nvSpPr>
        <p:spPr>
          <a:xfrm>
            <a:off x="-14050" y="762329"/>
            <a:ext cx="261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Insights &amp; Recommendations</a:t>
            </a:r>
            <a:endParaRPr lang="ar-EG" sz="4400" dirty="0"/>
          </a:p>
        </p:txBody>
      </p:sp>
    </p:spTree>
    <p:extLst>
      <p:ext uri="{BB962C8B-B14F-4D97-AF65-F5344CB8AC3E}">
        <p14:creationId xmlns:p14="http://schemas.microsoft.com/office/powerpoint/2010/main" val="2445184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0800-9A14-8DB4-7B0A-E4E7746D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6F3190E3-137E-9E92-892E-EC6BCA2AC5A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6F3190E3-137E-9E92-892E-EC6BCA2AC5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24FE5FC0-B356-7293-CC6F-B1C73433992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24FE5FC0-B356-7293-CC6F-B1C7343399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DB5FB2C-FACD-6759-5C2B-F93849EDAA0D}"/>
              </a:ext>
            </a:extLst>
          </p:cNvPr>
          <p:cNvSpPr/>
          <p:nvPr/>
        </p:nvSpPr>
        <p:spPr>
          <a:xfrm>
            <a:off x="0" y="-40541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AB6C6-AF9F-63BE-C9CE-727116BD6E33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B1108A-0D95-E1D6-66B4-AC45CC0FC040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697583-4AB7-E14F-F22A-12EEA8488CB1}"/>
              </a:ext>
            </a:extLst>
          </p:cNvPr>
          <p:cNvGrpSpPr/>
          <p:nvPr/>
        </p:nvGrpSpPr>
        <p:grpSpPr>
          <a:xfrm rot="16932128"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0F71FEC-0730-3BDB-818D-808B6BACFDED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70A3354-F93B-3245-3858-F2961DED8805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81C1B51-CF71-3EE9-E071-F463237C494D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2375CE4-D987-EE7F-1812-5B0DEB6838E9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9E22717-125A-521F-2202-CCC8ADDB3A2A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877649-F759-13A4-F9D1-FF1AA3C075B5}"/>
                </a:ext>
              </a:extLst>
            </p:cNvPr>
            <p:cNvSpPr/>
            <p:nvPr/>
          </p:nvSpPr>
          <p:spPr>
            <a:xfrm>
              <a:off x="2284998" y="5504304"/>
              <a:ext cx="262773" cy="2627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AE4FD80-814D-A8B8-1FD4-EAEDF6335F4A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Questions with solid fill">
            <a:extLst>
              <a:ext uri="{FF2B5EF4-FFF2-40B4-BE49-F238E27FC236}">
                <a16:creationId xmlns:a16="http://schemas.microsoft.com/office/drawing/2014/main" id="{0C4FB339-0FB1-E1ED-E172-D3B738295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556" y="2618458"/>
            <a:ext cx="1270248" cy="12293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22988B-680E-C2E6-D507-B513F17020D1}"/>
              </a:ext>
            </a:extLst>
          </p:cNvPr>
          <p:cNvSpPr txBox="1"/>
          <p:nvPr/>
        </p:nvSpPr>
        <p:spPr>
          <a:xfrm>
            <a:off x="428283" y="456896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sz="1800" dirty="0"/>
              <a:t>Questions ?</a:t>
            </a:r>
            <a:endParaRPr lang="ar-EG" sz="2800" dirty="0"/>
          </a:p>
        </p:txBody>
      </p:sp>
      <p:pic>
        <p:nvPicPr>
          <p:cNvPr id="17" name="Graphic 16" descr="Board Of Directors with solid fill">
            <a:extLst>
              <a:ext uri="{FF2B5EF4-FFF2-40B4-BE49-F238E27FC236}">
                <a16:creationId xmlns:a16="http://schemas.microsoft.com/office/drawing/2014/main" id="{7F11466E-C615-51E8-6A21-780E0AC87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9688" y="1644670"/>
            <a:ext cx="3584999" cy="3584999"/>
          </a:xfrm>
          <a:prstGeom prst="rect">
            <a:avLst/>
          </a:prstGeom>
        </p:spPr>
      </p:pic>
      <p:pic>
        <p:nvPicPr>
          <p:cNvPr id="19" name="Graphic 18" descr="Question Mark with solid fill">
            <a:extLst>
              <a:ext uri="{FF2B5EF4-FFF2-40B4-BE49-F238E27FC236}">
                <a16:creationId xmlns:a16="http://schemas.microsoft.com/office/drawing/2014/main" id="{D4433204-58FD-D330-289E-744060E74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153" y="4315268"/>
            <a:ext cx="2071753" cy="2071753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F634F68A-0256-08A3-AFA9-FD4764BE2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17143" y="475943"/>
            <a:ext cx="1369897" cy="1369897"/>
          </a:xfrm>
          <a:prstGeom prst="rect">
            <a:avLst/>
          </a:prstGeom>
        </p:spPr>
      </p:pic>
      <p:pic>
        <p:nvPicPr>
          <p:cNvPr id="21" name="Graphic 20" descr="Question Mark with solid fill">
            <a:extLst>
              <a:ext uri="{FF2B5EF4-FFF2-40B4-BE49-F238E27FC236}">
                <a16:creationId xmlns:a16="http://schemas.microsoft.com/office/drawing/2014/main" id="{1259E591-73D1-38AC-1E33-BB79A1FDA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5822" y="1406716"/>
            <a:ext cx="778469" cy="778469"/>
          </a:xfrm>
          <a:prstGeom prst="rect">
            <a:avLst/>
          </a:prstGeom>
        </p:spPr>
      </p:pic>
      <p:pic>
        <p:nvPicPr>
          <p:cNvPr id="22" name="Graphic 21" descr="Question Mark with solid fill">
            <a:extLst>
              <a:ext uri="{FF2B5EF4-FFF2-40B4-BE49-F238E27FC236}">
                <a16:creationId xmlns:a16="http://schemas.microsoft.com/office/drawing/2014/main" id="{F78430B9-E56A-FDB3-5002-306126024A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8186" y="2609990"/>
            <a:ext cx="778469" cy="778469"/>
          </a:xfrm>
          <a:prstGeom prst="rect">
            <a:avLst/>
          </a:prstGeom>
        </p:spPr>
      </p:pic>
      <p:pic>
        <p:nvPicPr>
          <p:cNvPr id="23" name="Graphic 22" descr="Question Mark with solid fill">
            <a:extLst>
              <a:ext uri="{FF2B5EF4-FFF2-40B4-BE49-F238E27FC236}">
                <a16:creationId xmlns:a16="http://schemas.microsoft.com/office/drawing/2014/main" id="{458FB7E7-C8BE-F9E4-359B-6F5C6D1E7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1751" y="456896"/>
            <a:ext cx="1369897" cy="1369897"/>
          </a:xfrm>
          <a:prstGeom prst="rect">
            <a:avLst/>
          </a:prstGeom>
        </p:spPr>
      </p:pic>
      <p:pic>
        <p:nvPicPr>
          <p:cNvPr id="24" name="Graphic 23" descr="Question Mark with solid fill">
            <a:extLst>
              <a:ext uri="{FF2B5EF4-FFF2-40B4-BE49-F238E27FC236}">
                <a16:creationId xmlns:a16="http://schemas.microsoft.com/office/drawing/2014/main" id="{42444454-7A5D-E84E-0F46-82AAF9FD8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4162" y="352314"/>
            <a:ext cx="2071753" cy="2071753"/>
          </a:xfrm>
          <a:prstGeom prst="rect">
            <a:avLst/>
          </a:prstGeom>
        </p:spPr>
      </p:pic>
      <p:pic>
        <p:nvPicPr>
          <p:cNvPr id="25" name="Graphic 24" descr="Question Mark with solid fill">
            <a:extLst>
              <a:ext uri="{FF2B5EF4-FFF2-40B4-BE49-F238E27FC236}">
                <a16:creationId xmlns:a16="http://schemas.microsoft.com/office/drawing/2014/main" id="{EBD2957C-C0A6-3192-3460-6624EC394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17659" y="4129757"/>
            <a:ext cx="1369897" cy="1369897"/>
          </a:xfrm>
          <a:prstGeom prst="rect">
            <a:avLst/>
          </a:prstGeom>
        </p:spPr>
      </p:pic>
      <p:pic>
        <p:nvPicPr>
          <p:cNvPr id="26" name="Graphic 25" descr="Question Mark with solid fill">
            <a:extLst>
              <a:ext uri="{FF2B5EF4-FFF2-40B4-BE49-F238E27FC236}">
                <a16:creationId xmlns:a16="http://schemas.microsoft.com/office/drawing/2014/main" id="{67E9E3AB-518C-7DC7-C493-676639AEA4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9906" y="5489789"/>
            <a:ext cx="778469" cy="778469"/>
          </a:xfrm>
          <a:prstGeom prst="rect">
            <a:avLst/>
          </a:prstGeom>
        </p:spPr>
      </p:pic>
      <p:pic>
        <p:nvPicPr>
          <p:cNvPr id="27" name="Graphic 26" descr="Question Mark with solid fill">
            <a:extLst>
              <a:ext uri="{FF2B5EF4-FFF2-40B4-BE49-F238E27FC236}">
                <a16:creationId xmlns:a16="http://schemas.microsoft.com/office/drawing/2014/main" id="{3C440878-D0BB-427F-8D08-48EFD6413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46083" y="7405927"/>
            <a:ext cx="1369897" cy="1369897"/>
          </a:xfrm>
          <a:prstGeom prst="rect">
            <a:avLst/>
          </a:prstGeom>
        </p:spPr>
      </p:pic>
      <p:pic>
        <p:nvPicPr>
          <p:cNvPr id="29" name="Graphic 28" descr="Question Mark with solid fill">
            <a:extLst>
              <a:ext uri="{FF2B5EF4-FFF2-40B4-BE49-F238E27FC236}">
                <a16:creationId xmlns:a16="http://schemas.microsoft.com/office/drawing/2014/main" id="{1346A15A-02BE-24C5-E32B-386D0DE80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3499" y="3131518"/>
            <a:ext cx="778469" cy="77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09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F83A8-1E4E-FC86-2510-64BB1806C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EDCC0EE0-7F39-8C7A-D90E-62FA0E20AEC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1999" y="2571750"/>
              <a:ext cx="6782705" cy="3815272"/>
            </p:xfrm>
            <a:graphic>
              <a:graphicData uri="http://schemas.microsoft.com/office/powerpoint/2016/slidezoom">
                <pslz:sldZm>
                  <pslz:sldZmObj sldId="271" cId="675656472">
                    <pslz:zmPr id="{3CE02FF3-24A1-4590-8C55-4A0A1BCAB4B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82705" cy="38152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extLst>
                  <a:ext uri="{FF2B5EF4-FFF2-40B4-BE49-F238E27FC236}">
                    <a16:creationId xmlns:a16="http://schemas.microsoft.com/office/drawing/2014/main" id="{EDCC0EE0-7F39-8C7A-D90E-62FA0E20AE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999" y="2571750"/>
                <a:ext cx="6782705" cy="38152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86630A48-0CDA-AC3E-536C-D137DF7E5A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676" y="3347258"/>
              <a:ext cx="2975429" cy="1673679"/>
            </p:xfrm>
            <a:graphic>
              <a:graphicData uri="http://schemas.microsoft.com/office/powerpoint/2016/slidezoom">
                <pslz:sldZm>
                  <pslz:sldZmObj sldId="271" cId="675656472">
                    <pslz:zmPr id="{FBC966DA-B561-45DA-A261-BECB507F05C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5429" cy="16736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86630A48-0CDA-AC3E-536C-D137DF7E5A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6676" y="3347258"/>
                <a:ext cx="2975429" cy="16736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C91EA82-1335-A6C2-66FB-DF0F0CB88C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A60F4-BA72-4CD7-363B-ECA157BBFD85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0B48C0-D59F-A40F-859B-C6CBE9D4A87B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C977C1-EA15-CBA1-6572-58C8EBC8AC45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AE4C80B-7B70-F9EB-F947-25809782AC22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F3F6010-2436-8454-4D2D-E41984416BBD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C119F1-9613-C5E5-0D31-8334D33F8579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675C63B-A67C-D567-8C3E-C8F60D9A6F09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E93BEF-F0E8-DA3D-2051-44F8CC9BC2F3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A8BB55-0E2D-8592-0C09-02C2BBB367E2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E96FCC8-3924-A29C-B174-BE185425E702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Graphic 9" descr="Hashtag with solid fill">
            <a:extLst>
              <a:ext uri="{FF2B5EF4-FFF2-40B4-BE49-F238E27FC236}">
                <a16:creationId xmlns:a16="http://schemas.microsoft.com/office/drawing/2014/main" id="{0611945D-F377-BCF5-987C-B50C0E264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8677A7-1085-CDFE-945E-0F49797D2B4B}"/>
              </a:ext>
            </a:extLst>
          </p:cNvPr>
          <p:cNvSpPr txBox="1"/>
          <p:nvPr/>
        </p:nvSpPr>
        <p:spPr>
          <a:xfrm>
            <a:off x="4783821" y="2719671"/>
            <a:ext cx="58108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THE END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0E31B-9446-4AF5-0208-FF57AF2447F7}"/>
              </a:ext>
            </a:extLst>
          </p:cNvPr>
          <p:cNvSpPr txBox="1"/>
          <p:nvPr/>
        </p:nvSpPr>
        <p:spPr>
          <a:xfrm>
            <a:off x="9247414" y="6234806"/>
            <a:ext cx="1868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Making Of Project  </a:t>
            </a:r>
          </a:p>
        </p:txBody>
      </p:sp>
      <p:pic>
        <p:nvPicPr>
          <p:cNvPr id="16" name="Graphic 15" descr="Chevron arrows with solid fill">
            <a:extLst>
              <a:ext uri="{FF2B5EF4-FFF2-40B4-BE49-F238E27FC236}">
                <a16:creationId xmlns:a16="http://schemas.microsoft.com/office/drawing/2014/main" id="{86824816-DD70-9F28-8A18-1DCD10399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57303" y="6184871"/>
            <a:ext cx="424388" cy="42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1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B3452-9A1F-1DC2-C014-AEA9E0C0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B0FE23-D604-6FE7-6FF7-C11149CB0DCC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B1EEE-D234-E2DE-82A5-B6B387BF81F1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FFE15-A492-4C02-FBC1-B4E3C4E2226E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8322065-B277-D901-CDDA-392ACAD89A15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DABD873-55E4-C553-A707-2A4D2F9456CE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03C2193-837F-6762-4625-FF96CA911FDA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2D1A467-EA56-31CB-5C85-48787B849E1F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E98FE4E-CE0D-53A1-8F33-FC0E4EB98FFB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06C0B1-A624-44A0-23F5-1CDA094CDA2C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58683B0-D3EC-E987-9FA9-309F19CD034B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F68B074-7138-1EF9-948D-AE2854301C6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8F79B38-EE78-79A8-F3DA-D4785DF94045}"/>
              </a:ext>
            </a:extLst>
          </p:cNvPr>
          <p:cNvSpPr txBox="1"/>
          <p:nvPr/>
        </p:nvSpPr>
        <p:spPr>
          <a:xfrm>
            <a:off x="3313329" y="175388"/>
            <a:ext cx="6367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Backstage</a:t>
            </a:r>
          </a:p>
        </p:txBody>
      </p: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03052C5B-D05E-333B-5AC4-BB25008D8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93E9B89-2A11-B4C7-02D5-21B9731F7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75" y="1371467"/>
            <a:ext cx="8638865" cy="534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2B3D-EC2C-D0F4-705C-738431627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D12E97-CF48-E118-252E-EAF0F36878B0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F2D0AC-B2D3-E5F3-ED36-7C911FE76B01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DBCDEE-4BCB-4FC9-C33E-836C9F8BE13D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65AF9E-292D-C85A-1FB4-6CE44B32FD79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894BCDD-4206-404B-F8F1-9D94F6ADEE59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A08DCDF-EC49-02F4-71FA-3AAAB55D7E32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C73A760-A25E-4D81-2D5E-7ED5E2A21AA2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78F7FFC-3BE5-0849-B8BA-50C70510E979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729813-6464-7FB6-35A7-C267DC447266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B3AC62-C23F-F049-B011-F549E557A461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6AAC2AF-F498-96E4-07CA-3A0723FC6E6D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71B9F86B-DC45-8720-DB83-2B73D11C86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E6F7606-28EA-BBF0-68AD-587B74988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271" y="1371467"/>
            <a:ext cx="8642170" cy="536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5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1000">
        <p:pull/>
      </p:transition>
    </mc:Choice>
    <mc:Fallback xmlns="">
      <p:transition advTm="1000">
        <p:pull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090B-7746-68D4-05E2-E59477F6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46314D-0B17-BDB2-A631-7742EA234064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523FF0-AFBB-3C79-D35B-BD49C4D99CD9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757C59-B34C-55DE-A8D7-9F821237DE42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B3BFE35-B7B3-4EE2-555C-476D1FE883C4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00C6047-2445-3290-12F9-C5CC8C2C503B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2F9E261-3970-32EE-1A48-2F991568A7C9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003A79F-15F9-D12A-961C-EC163BD44052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6ED36A-80C9-0834-DBD2-E70B6142C7EC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FBED0C-FCF7-EB73-DB09-D253EDE11D53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A3887-5803-B374-6574-26FE1034B9F2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B73AFE-C6C5-C495-F2C8-50BBE75EFD1D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59CE717D-E071-D258-E464-FDC2FADBC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3D0ED4-702F-D3F6-F70E-FC80331A5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36" y="1371467"/>
            <a:ext cx="8680905" cy="5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1000">
        <p:pull/>
      </p:transition>
    </mc:Choice>
    <mc:Fallback xmlns="">
      <p:transition advTm="1000">
        <p:pull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69432-3C7E-67FE-E552-723EFDB8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4F2CE2-B508-8EC2-239C-0B4099B987B9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251F8A-2C65-6D26-0A4C-913F9AEA8DD4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0E6DBD-506D-3284-39F0-9C7BD4BF5DCF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0B80BE-97A9-444C-C7C6-B48C132D69CF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05CE95-60CF-417B-F1C6-F18E6D980332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2624948-66A8-76B7-F24E-01079F73E6F5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C5885F-CC99-8B27-3311-29D1F70653F7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CEA35D-E222-FDE0-9CD5-4AF70D3FC743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3E997E-97DF-5509-EC3E-39E8FA87071A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29273A9-A7B2-F885-CE11-FD3B4CC633C4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ED707A3-83B7-C10A-13A1-97C0A6DE8454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43D9B848-0DAB-57A4-85D8-CB68A20B7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BF5BC0B-A27D-39C2-1497-0EB55F2C6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65" y="1366439"/>
            <a:ext cx="8715076" cy="531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45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5E2D-3F00-9628-2AE1-A2CFCE18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26A640-4382-8A33-ABF3-0BD77AC0639D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8046E4-A53A-8399-15D9-B651EEE1EE69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54A52A-9C50-3A69-CD3F-3E1A991065B5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A9A0FD-0FC2-B27B-146F-C1C841AEA744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D689DB5-E1B3-1DAF-29F6-D829763FCA5A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5900AE8-ED6D-825E-8252-1A9FD39CF781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3B0320-9340-2934-10F0-46FB80CA118B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9965269-F8A1-89EB-F272-65B5CA377D17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6F89DB8-9BCE-578F-8644-656D4B4F272D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4F67FC-8905-91D8-8E79-9A798A97943F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EC5FCE3-0415-A1D7-42F5-57BA49A780C2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12AD0AC8-D3C2-3DAF-B3D8-6A352E9DB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0579A86-13E8-F32D-425E-3856164A2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343" y="1402794"/>
            <a:ext cx="8641098" cy="527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6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7276-68B1-780C-87A7-D7F022FF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1498D7-B72B-F2AC-E2F7-F584A940796D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D0BC5E-3254-2D87-EEEA-979BC5E6AB37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0DC32D-48EE-EA3B-F54D-E6A7D5DD727B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D9C3BE-76BF-ED6E-ADD3-41B8B4DFABD9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EF63763-A608-418B-2D56-BE4D8EA0169B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ED7725-2161-ACE7-CBD3-D798B9B1E02E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E436E26-33C9-880D-428F-5A8108887284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E8D855-16E6-34E4-A6D8-770681C7FCC8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2E94F6D-631A-5561-60B5-B3444A646E85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20CC2D0-BB30-526B-53EB-A3564FCF1618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BBF80BC-66EF-A6D4-2AC9-15DC2A6CE570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2B20DA05-D68E-DA2B-515E-165028F41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462A304-30B1-4FDF-A0E3-E794F865D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253" y="1371466"/>
            <a:ext cx="8687188" cy="531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8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D96EB-1EDC-7518-414D-B86FBAD2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DE27C7-2EA8-0CBB-01DD-2E5065EC3ED1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BC320A-D5FA-7E10-2040-5667932E2F68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47BEBF-A5FC-3FA1-549B-280C07CF6358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AD8661-B325-79AC-50CC-5AD65DE33A50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2489CE7-D1BC-C640-C428-75129A0158EA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763710C-9950-32FF-AB72-1AD1858D58ED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2257013-909A-18E4-5D89-CEFFEE29B579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546A1AE-9B18-E011-5B0E-6307F07FDDF4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E71BD3-F328-2C0B-7196-2E8B75FBB595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415E761-FE36-074B-74AB-FBAD02AB5475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BEE8CF4-6E89-4F2C-C725-6B7272910CBB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36C9358C-704D-0431-E6B8-39955DDB3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449462F-2DEF-07AE-5766-E2D355296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343" y="1371466"/>
            <a:ext cx="8641098" cy="53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AB9BA-F2CA-71A5-B9B6-210246D7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F12CCD-C0DC-65A2-669C-59FB8267627D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F4271-3C6D-2356-7FB5-66C0CD703DBF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421D28-D476-60D3-E85B-792EDF25BE7E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56869A-84E3-110C-38E0-372C8B8FDB78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C0AA5FB-74C7-B2CC-1FAD-CD5CAF41C964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C697A7-E6DD-ABAF-75E6-05B63F6BBAA8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BA3E9AF-783D-1C79-495C-5C38C05C56D4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19BF0D6-016C-384F-184A-21EEAB88B1E5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05DC51-5B02-7F51-71FF-FEF61C68E60D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C4FD24-CDD5-E3CF-625B-C2130EED9C58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D826BB1-779D-4492-92A9-0F7169410610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45AD7090-1B67-4045-46CE-6D01A592B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316D91-0A96-CAE2-AC97-8FBEE537C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253" y="1371467"/>
            <a:ext cx="8687188" cy="529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5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1A23-01CC-5D69-FB32-8038E861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3124B0-5367-022C-4805-F1121C156F84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A8E92-19F9-697B-6BD6-C387E78B4CBD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9E7C09-2FB1-EAE6-CC6D-7197B98A98C8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C4439B-1564-1673-5245-DE99E23FFD98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C7EC014-7882-37C0-C78A-23E1163878AA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4E35BE4-EDE1-0880-583C-D989DCC34851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248B5C6-5FF5-5252-30AC-367706DF8D26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1169AF9-91D1-DC03-B065-89310592BC0A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C23147C-5E81-4009-3975-65245D0AEFB4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279BAD2-4705-A66C-BAD7-6E4E3AE4B5BC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3606287-BF8E-57D2-0B8C-BFC7B1ECAE86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84F75E7C-749D-BFA8-17F4-4A463AF68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DCAF9E-E856-89A3-B3B5-137ED8D23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253" y="1352378"/>
            <a:ext cx="8687188" cy="533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6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49BC9-2DE5-CC88-5DCD-C3605689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E38030-BA75-1A8A-3111-64EA0B9D9FDB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2C5D34-F952-2429-CF8E-824028C2AF17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4A08E8-0768-DE18-4034-6BB0DD154C38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C01592-7905-8AD1-5ECD-31CEF36EA83D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AAFB5A4-1FAA-0F7C-0FF5-BEA4F01835BE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3919E36-F24C-3095-9BB5-984583BE3729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6CD94DA-BF32-9DE5-3CA7-4F75F5B788E5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2B18BF3-531C-126D-DA3E-D38A7E0F672C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2991553-8D93-2CB7-5150-FBE895CC2B31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1393DF-7C80-BBE2-8CF6-6F7B941B1760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1054970-EB81-D3C9-FA0C-EB987591902E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2DCF2205-37E4-2887-37B6-587048304D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5BF51DC-AE9D-FA53-2536-7AE54BA4F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331" y="1395854"/>
            <a:ext cx="8753109" cy="528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2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325C-F1BF-81AE-92EE-0B7B29F3D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4FB01A-A981-2CD7-1929-07A75D112839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87846F-29CB-3718-24AB-C4FE503770F2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72F1A1-E5C8-E8D5-A54C-5E15C20726D7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30B0F3-F693-6827-F479-276B5BCFCA96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A966349-1DF2-673C-F0FC-ED8736A3177D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B85C154-F02C-B8C4-5D4D-5E5DDC987455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70DCF5C-E6E0-D49E-EE99-40B07E173828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521C55-32B7-407E-76B9-5AD768376534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38F72A-53E6-F4C9-8A42-E5DF148BB3D5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CAC2813-0F27-DBF0-404C-7D809047B113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8E4A17-0179-93D1-F3E5-FDA394B933F1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3B801F03-DAB1-2A36-4CD7-804762F6F5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802EAE-4290-1E1A-0A20-3ABD6872B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331" y="1371467"/>
            <a:ext cx="8753109" cy="531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9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8828-5A6E-2762-0082-B8532CAF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FAEA7B-EB9E-AEEA-442A-6FFB1DE058D6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65924-B5D0-4F37-5F0E-73A2614A6F9A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001A02-3DD4-52BE-C08B-B9F3034A2246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A7D525-C3E0-655C-F19E-DC9C1E0E035E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0A6C3AD-DFC4-2741-284F-2166955C0B03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46C8606-D880-4264-611B-09785CF39BBD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C1DD9DD-D060-9362-DA72-D4B3835A521F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8F5A7EA-94E8-F348-024A-4755AFF86106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A4EC22E-E80E-5303-0B90-1464B93B5E74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D64A62A-E442-7269-C617-94E14AE8CA29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36A5892-F88A-F0DB-148B-62B0FD3AD230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31551985-21B5-1748-D276-6C7421745E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7AFBBC-27DA-CD8F-B15B-25ED248E6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361" b="56107"/>
          <a:stretch>
            <a:fillRect/>
          </a:stretch>
        </p:blipFill>
        <p:spPr>
          <a:xfrm>
            <a:off x="3309690" y="1134284"/>
            <a:ext cx="8759128" cy="42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6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B0344-9FB6-ACB0-D7F0-2F05BF16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2DE9B6-8FD1-9B38-B50A-56A1AC249611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A12671-C413-543B-CA18-005ECD170D21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C6EA7B-178A-1EFA-BC58-F602CF39ECA7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8E6DA0-AF05-ACB5-49D6-0DBF5F43596C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96268A-2E7B-FF24-3073-6240199F0F16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D4CE039-4894-8D4C-31CB-86E8D9E3EAE1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36833E-8758-CCB1-0B4D-64902055580C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93AB9D-156A-E88E-98FB-5A9A9FEACEFE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004C8D-EB2F-3443-76E9-6C4E67BB2FA2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3CA7D6E-B0FF-B397-6C70-30FECC906E7E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0C2103A-007A-18E9-4CDA-24CA785EE6FB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28D09ECA-F405-0909-6ED5-7DE506096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5FF90F-CA43-38A0-3088-5FA9FBFEA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440" b="56566"/>
          <a:stretch>
            <a:fillRect/>
          </a:stretch>
        </p:blipFill>
        <p:spPr>
          <a:xfrm>
            <a:off x="3442902" y="1002478"/>
            <a:ext cx="8492705" cy="45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0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17EF-4ED1-AD8B-3733-D11C21F1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6AEDD4-7BF2-AFA9-AFB5-C40464855237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E1181B-90AD-32D5-76B5-B49AE26546A6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4703B0-1189-6BA6-75FE-48A3D6B5F199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4CCAC2-01B3-19AA-58BF-49C410D3A8E0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6094A7-1021-6A16-A261-454764E31833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F2B5ADE-A2F1-66F6-3523-5CC599DAD22D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A5A4286-CE09-F8E6-FC62-E736BE1CECD7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B5CF42-AB0E-0137-9B09-04A519B39526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012C45-871B-9C22-8B04-478FC4FE3FB8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E8C3C36-A674-C551-AAE1-F38BAD3231E8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5D477E1-5251-C0F6-8964-69BF6F097570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B4B56596-41EF-0BE2-1C72-85E390F82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CBDC8A2-A8FD-3417-2ADC-A676359EE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32" b="52978"/>
          <a:stretch>
            <a:fillRect/>
          </a:stretch>
        </p:blipFill>
        <p:spPr>
          <a:xfrm>
            <a:off x="3567197" y="1751603"/>
            <a:ext cx="8244114" cy="36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1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4EF9-41E7-72E4-305A-599AB43F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A0C199-8531-F3EC-8C8A-AA8F3128E253}"/>
              </a:ext>
            </a:extLst>
          </p:cNvPr>
          <p:cNvSpPr/>
          <p:nvPr/>
        </p:nvSpPr>
        <p:spPr>
          <a:xfrm>
            <a:off x="0" y="-5028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4F24F5-37DF-FF2B-C700-F31E6DEFBC9C}"/>
              </a:ext>
            </a:extLst>
          </p:cNvPr>
          <p:cNvSpPr/>
          <p:nvPr/>
        </p:nvSpPr>
        <p:spPr>
          <a:xfrm>
            <a:off x="3947886" y="1778561"/>
            <a:ext cx="7884138" cy="4764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2CABF0-5E0C-E469-A3A3-CB94B3B1748C}"/>
              </a:ext>
            </a:extLst>
          </p:cNvPr>
          <p:cNvSpPr/>
          <p:nvPr/>
        </p:nvSpPr>
        <p:spPr>
          <a:xfrm>
            <a:off x="95559" y="2339429"/>
            <a:ext cx="1766243" cy="1766243"/>
          </a:xfrm>
          <a:prstGeom prst="ellipse">
            <a:avLst/>
          </a:prstGeom>
          <a:gradFill>
            <a:gsLst>
              <a:gs pos="8000">
                <a:srgbClr val="D4AF37"/>
              </a:gs>
              <a:gs pos="100000">
                <a:srgbClr val="DABA5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FFF570-4BD2-70DA-3892-AA5126DC79AB}"/>
              </a:ext>
            </a:extLst>
          </p:cNvPr>
          <p:cNvGrpSpPr/>
          <p:nvPr/>
        </p:nvGrpSpPr>
        <p:grpSpPr>
          <a:xfrm>
            <a:off x="-4945588" y="-822407"/>
            <a:ext cx="8258917" cy="8132097"/>
            <a:chOff x="-4945588" y="-822407"/>
            <a:chExt cx="8258917" cy="81320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A5EE20E-12A1-06A3-26D1-8734A138ECB1}"/>
                </a:ext>
              </a:extLst>
            </p:cNvPr>
            <p:cNvSpPr/>
            <p:nvPr/>
          </p:nvSpPr>
          <p:spPr>
            <a:xfrm>
              <a:off x="-4945588" y="-822407"/>
              <a:ext cx="8132097" cy="813209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ADA604B-F546-918F-D09A-C1E3785F6635}"/>
                </a:ext>
              </a:extLst>
            </p:cNvPr>
            <p:cNvSpPr/>
            <p:nvPr/>
          </p:nvSpPr>
          <p:spPr>
            <a:xfrm>
              <a:off x="3017935" y="2490111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E3912CA-D7B4-EC1B-EB57-831BA3E4FBA6}"/>
                </a:ext>
              </a:extLst>
            </p:cNvPr>
            <p:cNvSpPr/>
            <p:nvPr/>
          </p:nvSpPr>
          <p:spPr>
            <a:xfrm>
              <a:off x="2200993" y="585814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4DF0F28-153C-61BD-FBB1-FA1EF31A18CB}"/>
                </a:ext>
              </a:extLst>
            </p:cNvPr>
            <p:cNvSpPr/>
            <p:nvPr/>
          </p:nvSpPr>
          <p:spPr>
            <a:xfrm>
              <a:off x="2787783" y="4636797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11DCCA-EC60-E88C-95F6-480DC19A75F8}"/>
                </a:ext>
              </a:extLst>
            </p:cNvPr>
            <p:cNvSpPr/>
            <p:nvPr/>
          </p:nvSpPr>
          <p:spPr>
            <a:xfrm>
              <a:off x="3050556" y="3554786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DA1261-9E99-8DF3-A2A6-FEE9EDF487D8}"/>
                </a:ext>
              </a:extLst>
            </p:cNvPr>
            <p:cNvSpPr/>
            <p:nvPr/>
          </p:nvSpPr>
          <p:spPr>
            <a:xfrm>
              <a:off x="2297078" y="5560163"/>
              <a:ext cx="262773" cy="262773"/>
            </a:xfrm>
            <a:prstGeom prst="ellipse">
              <a:avLst/>
            </a:prstGeom>
            <a:solidFill>
              <a:srgbClr val="DAB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AA4C56A-D614-9441-E832-F96455D5FE93}"/>
                </a:ext>
              </a:extLst>
            </p:cNvPr>
            <p:cNvSpPr/>
            <p:nvPr/>
          </p:nvSpPr>
          <p:spPr>
            <a:xfrm>
              <a:off x="2711716" y="1488830"/>
              <a:ext cx="262773" cy="262773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Clapper board with solid fill">
            <a:extLst>
              <a:ext uri="{FF2B5EF4-FFF2-40B4-BE49-F238E27FC236}">
                <a16:creationId xmlns:a16="http://schemas.microsoft.com/office/drawing/2014/main" id="{159D121C-E89C-2605-7B56-3D3EC2EE6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80" y="2786441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43DC6B8-ED43-D163-0037-586FB57C4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5" b="42118"/>
          <a:stretch>
            <a:fillRect/>
          </a:stretch>
        </p:blipFill>
        <p:spPr>
          <a:xfrm>
            <a:off x="3428647" y="2109837"/>
            <a:ext cx="8578245" cy="252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9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1046</Words>
  <Application>Microsoft Office PowerPoint</Application>
  <PresentationFormat>Widescreen</PresentationFormat>
  <Paragraphs>180</Paragraphs>
  <Slides>57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Asmaa Ahmed Ahmed Ismail</dc:creator>
  <cp:lastModifiedBy>Asmaa Ahmed Ahmed Ismail</cp:lastModifiedBy>
  <cp:revision>46</cp:revision>
  <dcterms:created xsi:type="dcterms:W3CDTF">2026-05-17T16:06:03Z</dcterms:created>
  <dcterms:modified xsi:type="dcterms:W3CDTF">2026-05-25T19:40:44Z</dcterms:modified>
</cp:coreProperties>
</file>